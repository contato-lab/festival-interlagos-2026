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hyperlink" Target="https://www.facebook.com/ads/library/?active_status=all&amp;ad_type=all&amp;country=BR&amp;view_all_page_id=539197779284349&amp;search_type=keyword_unordered&amp;media_type=all&amp;q=vendas+abertas+-+compre+seu+ingresso+%F0%9F%8E%9F%EF%B8%8F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hyperlink" Target="https://www.facebook.com/ads/library/?active_status=all&amp;ad_type=all&amp;country=BR&amp;view_all_page_id=539197779284349&amp;search_type=keyword_unordered&amp;media_type=all&amp;q=street+108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hyperlink" Target="https://www.facebook.com/ads/library/?active_status=all&amp;ad_type=all&amp;country=BR&amp;view_all_page_id=539197779284349&amp;search_type=keyword_unordered&amp;media_type=all&amp;q=domine+as+curvas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hyperlink" Target="https://www.facebook.com/ads/library/?active_status=all&amp;ad_type=all&amp;country=BR&amp;view_all_page_id=539197779284349&amp;search_type=keyword_unordered&amp;media_type=all&amp;q=guia+edi%C3%A7%C3%A3o+moto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hyperlink" Target="https://www.facebook.com/ads/library/?active_status=all&amp;ad_type=all&amp;country=BR&amp;view_all_page_id=539197779284349&amp;search_type=keyword_unordered&amp;media_type=all&amp;q=thiaguinho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hyperlink" Target="https://www.facebook.com/ads/library/?active_status=all&amp;ad_type=all&amp;country=BR&amp;view_all_page_id=539197779284349&amp;search_type=keyword_unordered&amp;media_type=all&amp;q=o+que+acontece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hyperlink" Target="https://www.facebook.com/ads/library/?active_status=all&amp;ad_type=all&amp;country=BR&amp;view_all_page_id=539197779284349&amp;search_type=keyword_unordered&amp;media_type=all&amp;q=hungria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hyperlink" Target="https://www.facebook.com/ads/library/?active_status=all&amp;ad_type=all&amp;country=BR&amp;view_all_page_id=539197779284349&amp;search_type=keyword_unordered&amp;media_type=all&amp;q=d2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hyperlink" Target="https://www.facebook.com/ads/library/?active_status=all&amp;ad_type=all&amp;country=BR&amp;view_all_page_id=539197779284349&amp;search_type=keyword_unordered&amp;media_type=all&amp;q=banner+auto+geral+3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hyperlink" Target="https://www.facebook.com/ads/library/?active_status=all&amp;ad_type=all&amp;country=BR&amp;view_all_page_id=539197779284349&amp;search_type=keyword_unordered&amp;media_type=all&amp;q=jarule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hyperlink" Target="https://www.facebook.com/ads/library/?active_status=all&amp;ad_type=all&amp;country=BR&amp;view_all_page_id=539197779284349&amp;search_type=keyword_unordered&amp;media_type=all&amp;q=street+108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hyperlink" Target="https://www.facebook.com/ads/library/?active_status=all&amp;ad_type=all&amp;country=BR&amp;view_all_page_id=539197779284349&amp;search_type=keyword_unordered&amp;media_type=all&amp;q=o+que+acontece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hyperlink" Target="https://www.facebook.com/ads/library/?active_status=all&amp;ad_type=all&amp;country=BR&amp;view_all_page_id=539197779284349&amp;search_type=keyword_unordered&amp;media_type=all&amp;q=d2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hyperlink" Target="https://www.facebook.com/ads/library/?active_status=all&amp;ad_type=all&amp;country=BR&amp;view_all_page_id=539197779284349&amp;search_type=keyword_unordered&amp;media_type=all&amp;q=post+ingressos+informativo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www.facebook.com/ads/library/?active_status=all&amp;ad_type=all&amp;country=BR&amp;view_all_page_id=539197779284349&amp;search_type=keyword_unordered&amp;media_type=all&amp;q=segundo+lote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hyperlink" Target="https://www.facebook.com/ads/library/?active_status=all&amp;ad_type=all&amp;country=BR&amp;view_all_page_id=539197779284349&amp;search_type=keyword_unordered&amp;media_type=all&amp;q=matheus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hyperlink" Target="https://www.facebook.com/ads/library/?active_status=all&amp;ad_type=all&amp;country=BR&amp;view_all_page_id=539197779284349&amp;search_type=keyword_unordered&amp;media_type=all&amp;q=virada+de+lote+jarule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hyperlink" Target="https://www.facebook.com/ads/library/?active_status=all&amp;ad_type=all&amp;country=BR&amp;view_all_page_id=539197779284349&amp;search_type=keyword_unordered&amp;media_type=all&amp;q=pista+premium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hyperlink" Target="https://www.facebook.com/ads/library/?active_status=all&amp;ad_type=all&amp;country=BR&amp;view_all_page_id=539197779284349&amp;search_type=keyword_unordered&amp;media_type=all&amp;q=medina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hyperlink" Target="https://www.facebook.com/ads/library/?active_status=all&amp;ad_type=all&amp;country=BR&amp;view_all_page_id=539197779284349&amp;search_type=keyword_unordered&amp;media_type=all&amp;q=medina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C8FF00"/>
                </a:solidFill>
                <a:latin typeface="Arial Black"/>
              </a:rPr>
              <a:t>LIME · AGÊNCIA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6800" b="1">
                <a:solidFill>
                  <a:srgbClr val="FFFFFF"/>
                </a:solidFill>
                <a:latin typeface="Arial Black"/>
              </a:rPr>
              <a:t>TOP CRIATIVOS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C8FF00"/>
                </a:solidFill>
                <a:latin typeface="Arial"/>
              </a:rPr>
              <a:t>META ADS · FESTIVAL INTERLAGOS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AAAAAA"/>
                </a:solidFill>
                <a:latin typeface="Calibri"/>
              </a:rPr>
              <a:t>Análise dos últimos 10 dias  ·  2026-05-12 a 2026-05-22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2 contas: Principal (act_2044706169171045) + Nova Motos (act_1326431289216611)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Gerado em 22/05/2026 18:06 · Festival Interlagos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 Black"/>
              </a:rPr>
              <a:t>TOP 10 GERAL · MAIS COMPRAS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8FF00"/>
                </a:solidFill>
                <a:latin typeface="Calibri"/>
              </a:rPr>
              <a:t>Últimos 10 dias · 2 contas Meta Ads · ordenado por compras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365760" cy="41148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l"/>
            <a:r>
              <a:rPr sz="1100" b="1">
                <a:solidFill>
                  <a:srgbClr val="0A0A0A"/>
                </a:solidFill>
                <a:latin typeface="Arial"/>
              </a:rPr>
              <a:t>#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1005840" cy="41148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l"/>
            <a:r>
              <a:rPr sz="1100" b="1">
                <a:solidFill>
                  <a:srgbClr val="0A0A0A"/>
                </a:solidFill>
                <a:latin typeface="Arial"/>
              </a:rPr>
              <a:t>Conta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1645920"/>
            <a:ext cx="822960" cy="41148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l"/>
            <a:r>
              <a:rPr sz="1100" b="1">
                <a:solidFill>
                  <a:srgbClr val="0A0A0A"/>
                </a:solidFill>
                <a:latin typeface="Arial"/>
              </a:rPr>
              <a:t>Compras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645920"/>
            <a:ext cx="1097280" cy="41148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l"/>
            <a:r>
              <a:rPr sz="1100" b="1">
                <a:solidFill>
                  <a:srgbClr val="0A0A0A"/>
                </a:solidFill>
                <a:latin typeface="Arial"/>
              </a:rPr>
              <a:t>Gasto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645920"/>
            <a:ext cx="1005840" cy="41148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l"/>
            <a:r>
              <a:rPr sz="1100" b="1">
                <a:solidFill>
                  <a:srgbClr val="0A0A0A"/>
                </a:solidFill>
                <a:latin typeface="Arial"/>
              </a:rPr>
              <a:t>CPP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645920"/>
            <a:ext cx="640080" cy="41148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l"/>
            <a:r>
              <a:rPr sz="1100" b="1">
                <a:solidFill>
                  <a:srgbClr val="0A0A0A"/>
                </a:solidFill>
                <a:latin typeface="Arial"/>
              </a:rPr>
              <a:t>CTR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645920"/>
            <a:ext cx="6949440" cy="41148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l"/>
            <a:r>
              <a:rPr sz="1100" b="1">
                <a:solidFill>
                  <a:srgbClr val="0A0A0A"/>
                </a:solidFill>
                <a:latin typeface="Arial"/>
              </a:rPr>
              <a:t>Anúncio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03120"/>
            <a:ext cx="36576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103120"/>
            <a:ext cx="100584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AAAAAA"/>
                </a:solidFill>
                <a:latin typeface="Calibri"/>
              </a:rPr>
              <a:t>Principal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2103120"/>
            <a:ext cx="82296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103120"/>
            <a:ext cx="109728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R$ 2.229,61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2103120"/>
            <a:ext cx="100584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4DFF91"/>
                </a:solidFill>
                <a:latin typeface="Calibri"/>
              </a:rPr>
              <a:t>R$ 55,74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103120"/>
            <a:ext cx="64008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0.8%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2103120"/>
            <a:ext cx="694944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VENDAS ABERTAS - COMPRE SEU INGRESSO 🎟️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560320"/>
            <a:ext cx="36576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2560320"/>
            <a:ext cx="100584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AAAAAA"/>
                </a:solidFill>
                <a:latin typeface="Calibri"/>
              </a:rPr>
              <a:t>Principal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2560320"/>
            <a:ext cx="82296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29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2560320"/>
            <a:ext cx="109728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R$ 1.639,90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2560320"/>
            <a:ext cx="100584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4DFF91"/>
                </a:solidFill>
                <a:latin typeface="Calibri"/>
              </a:rPr>
              <a:t>R$ 56,55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2560320"/>
            <a:ext cx="64008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1.37%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0" y="2560320"/>
            <a:ext cx="694944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[AD] STREET 108 (4 adsets)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017520"/>
            <a:ext cx="36576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3017520"/>
            <a:ext cx="100584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5DAEFF"/>
                </a:solidFill>
                <a:latin typeface="Calibri"/>
              </a:rPr>
              <a:t>Nova Motos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3017520"/>
            <a:ext cx="82296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24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3017520"/>
            <a:ext cx="109728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R$ 817,39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0" y="3017520"/>
            <a:ext cx="100584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4DFF91"/>
                </a:solidFill>
                <a:latin typeface="Calibri"/>
              </a:rPr>
              <a:t>R$ 34,06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017520"/>
            <a:ext cx="64008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0.74%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3017520"/>
            <a:ext cx="694944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[AD1] DOMINE AS CURVAS (2 adsets)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474720"/>
            <a:ext cx="36576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3474720"/>
            <a:ext cx="100584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5DAEFF"/>
                </a:solidFill>
                <a:latin typeface="Calibri"/>
              </a:rPr>
              <a:t>Nova Motos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20240" y="3474720"/>
            <a:ext cx="82296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20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3474720"/>
            <a:ext cx="109728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R$ 454,55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0" y="3474720"/>
            <a:ext cx="100584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4DFF91"/>
                </a:solidFill>
                <a:latin typeface="Calibri"/>
              </a:rPr>
              <a:t>R$ 22,73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0" y="3474720"/>
            <a:ext cx="64008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1.22%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0" y="3474720"/>
            <a:ext cx="694944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[AD1] GUIA EDIÇÃO MOTO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931920"/>
            <a:ext cx="36576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3931920"/>
            <a:ext cx="100584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5DAEFF"/>
                </a:solidFill>
                <a:latin typeface="Calibri"/>
              </a:rPr>
              <a:t>Nova Motos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20240" y="3931920"/>
            <a:ext cx="82296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19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0" y="3931920"/>
            <a:ext cx="109728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R$ 710,78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0" y="3931920"/>
            <a:ext cx="100584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4DFF91"/>
                </a:solidFill>
                <a:latin typeface="Calibri"/>
              </a:rPr>
              <a:t>R$ 37,41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6320" y="3931920"/>
            <a:ext cx="64008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1.59%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0" y="3931920"/>
            <a:ext cx="694944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[AD1] Thiaguinho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389120"/>
            <a:ext cx="36576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4389120"/>
            <a:ext cx="100584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AAAAAA"/>
                </a:solidFill>
                <a:latin typeface="Calibri"/>
              </a:rPr>
              <a:t>Principal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20240" y="4389120"/>
            <a:ext cx="82296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18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0" y="4389120"/>
            <a:ext cx="109728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R$ 1.055,43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40480" y="4389120"/>
            <a:ext cx="100584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4DFF91"/>
                </a:solidFill>
                <a:latin typeface="Calibri"/>
              </a:rPr>
              <a:t>R$ 58,64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46320" y="4389120"/>
            <a:ext cx="64008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1.33%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0" y="4389120"/>
            <a:ext cx="694944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[AD2] O QUE ACONTECE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4846320"/>
            <a:ext cx="36576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" y="4846320"/>
            <a:ext cx="100584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AAAAAA"/>
                </a:solidFill>
                <a:latin typeface="Calibri"/>
              </a:rPr>
              <a:t>Principal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20240" y="4846320"/>
            <a:ext cx="82296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16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0" y="4846320"/>
            <a:ext cx="109728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R$ 1.272,08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40480" y="4846320"/>
            <a:ext cx="100584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4DFF91"/>
                </a:solidFill>
                <a:latin typeface="Calibri"/>
              </a:rPr>
              <a:t>R$ 79,50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46320" y="4846320"/>
            <a:ext cx="64008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2.21%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0" y="4846320"/>
            <a:ext cx="694944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[AD2]HUNGRIA (2 adsets)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5303520"/>
            <a:ext cx="36576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" y="5303520"/>
            <a:ext cx="100584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AAAAAA"/>
                </a:solidFill>
                <a:latin typeface="Calibri"/>
              </a:rPr>
              <a:t>Principal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20240" y="5303520"/>
            <a:ext cx="82296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15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0" y="5303520"/>
            <a:ext cx="109728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R$ 735,85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40480" y="5303520"/>
            <a:ext cx="100584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4DFF91"/>
                </a:solidFill>
                <a:latin typeface="Calibri"/>
              </a:rPr>
              <a:t>R$ 49,06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46320" y="5303520"/>
            <a:ext cx="64008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1.13%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0" y="5303520"/>
            <a:ext cx="694944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[AD2] D2 (2 adsets)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5760720"/>
            <a:ext cx="36576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4400" y="5760720"/>
            <a:ext cx="100584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AAAAAA"/>
                </a:solidFill>
                <a:latin typeface="Calibri"/>
              </a:rPr>
              <a:t>Principal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20240" y="5760720"/>
            <a:ext cx="82296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14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0" y="5760720"/>
            <a:ext cx="109728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R$ 932,37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40480" y="5760720"/>
            <a:ext cx="100584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4DFF91"/>
                </a:solidFill>
                <a:latin typeface="Calibri"/>
              </a:rPr>
              <a:t>R$ 66,60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846320" y="5760720"/>
            <a:ext cx="64008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1.54%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0" y="5760720"/>
            <a:ext cx="694944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[AD1] BANNER AUTO GERAL 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8640" y="6217920"/>
            <a:ext cx="36576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10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4400" y="6217920"/>
            <a:ext cx="100584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5DAEFF"/>
                </a:solidFill>
                <a:latin typeface="Calibri"/>
              </a:rPr>
              <a:t>Nova Motos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920240" y="6217920"/>
            <a:ext cx="82296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14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0" y="6217920"/>
            <a:ext cx="109728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R$ 323,58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840480" y="6217920"/>
            <a:ext cx="100584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4DFF91"/>
                </a:solidFill>
                <a:latin typeface="Calibri"/>
              </a:rPr>
              <a:t>R$ 23,11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46320" y="6217920"/>
            <a:ext cx="64008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1.96%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400" y="6217920"/>
            <a:ext cx="694944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[AD1] JARULE (2 adsets)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A0A"/>
                </a:solidFill>
                <a:latin typeface="Arial Black"/>
              </a:rPr>
              <a:t>#1 de 10 · TOP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 Black"/>
              </a:rPr>
              <a:t>VENDAS ABERTAS - COMPRE SEU INGRESSO 🎟️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8FF00"/>
                </a:solidFill>
                <a:latin typeface="Calibri"/>
              </a:rPr>
              <a:t>Rodou em 1 adset · Compras somadas de TODAS as instâncias</a:t>
            </a:r>
          </a:p>
        </p:txBody>
      </p:sp>
      <p:pic>
        <p:nvPicPr>
          <p:cNvPr id="5" name="Picture 4" descr="21384153036178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365760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0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COMPRAS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C8FF00"/>
                </a:solidFill>
                <a:latin typeface="Arial Black"/>
              </a:rPr>
              <a:t>40</a:t>
            </a:r>
          </a:p>
        </p:txBody>
      </p:sp>
      <p:sp>
        <p:nvSpPr>
          <p:cNvPr id="9" name="Rectangle 8"/>
          <p:cNvSpPr/>
          <p:nvPr/>
        </p:nvSpPr>
        <p:spPr>
          <a:xfrm>
            <a:off x="8339328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GASTO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8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R$ 2.229,61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4DFF91"/>
                </a:solidFill>
                <a:latin typeface="Arial Black"/>
              </a:rPr>
              <a:t>R$ 55,74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9328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5DAEFF"/>
                </a:solidFill>
                <a:latin typeface="Arial Black"/>
              </a:rPr>
              <a:t>0.8%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IMPRESSÕES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247.532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9328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CLIQUES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1.980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8FF00"/>
                </a:solidFill>
                <a:latin typeface="Arial"/>
              </a:rPr>
              <a:t>📊 ONDE ESTE CRIATIVO RODOU (top adsets por compra)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57800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[40 compras]  [LM] [14.04.26] Semelhante (BR, 2%) - [LM] [VENDAS ATÉ O MOM  ·  [LM] [SP] [FESTIVAL INTERLAGOS] [GERAL] [LKL] [14.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📁 Conta: Principal  ·  1 adset(s)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FF00"/>
                </a:solidFill>
                <a:latin typeface="Arial"/>
                <a:hlinkClick r:id="rId3"/>
              </a:rPr>
              <a:t>🔗 Ver este criativo na Biblioteca de Anúncios do Meta (público)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A0A"/>
                </a:solidFill>
                <a:latin typeface="Arial Black"/>
              </a:rPr>
              <a:t>#2 de 10 · TOP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 Black"/>
              </a:rPr>
              <a:t>[AD] STREET 108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8FF00"/>
                </a:solidFill>
                <a:latin typeface="Calibri"/>
              </a:rPr>
              <a:t>Rodou em 4 adsets · Compras somadas de TODAS as instâncias</a:t>
            </a:r>
          </a:p>
        </p:txBody>
      </p:sp>
      <p:pic>
        <p:nvPicPr>
          <p:cNvPr id="5" name="Picture 4" descr="16296479514713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365760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0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COMPRAS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C8FF00"/>
                </a:solidFill>
                <a:latin typeface="Arial Black"/>
              </a:rP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8339328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GASTO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8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R$ 1.639,90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4DFF91"/>
                </a:solidFill>
                <a:latin typeface="Arial Black"/>
              </a:rPr>
              <a:t>R$ 56,55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9328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5DAEFF"/>
                </a:solidFill>
                <a:latin typeface="Arial Black"/>
              </a:rPr>
              <a:t>1.37%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IMPRESSÕES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144.080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9328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CLIQUES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1.980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8FF00"/>
                </a:solidFill>
                <a:latin typeface="Arial"/>
              </a:rPr>
              <a:t>📊 ONDE ESTE CRIATIVO RODOU (top adsets por compra)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57800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[15 compras]  [LM] [STREETPASS 108] LKL+ EXCLU v2  ·  [LM] [RMKT] [FESTIVAL INTERLAGOS] [17.04.2026]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68112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[9 compras]  [LM] [STREETPASS 108] INTERESSES + EXCLU v2  ·  [LM] [RMKT] [FESTIVAL INTERLAGOS] [17.04.2026]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678424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[4 compras]  [LM] [STREETPASS 108] INTERESSES + EXCLU v2 — Cópia  ·  [LM] [RMKT] [FESTIVAL INTERLAGOS] [17.04.2026]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88736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[1 compras]  [LM] [STREETPASS 108] INTERESSES + EXCLU v2 — Cópia  ·  [LM] [RMKT] [FESTIVAL INTERLAGOS] [17.04.2026]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📁 Conta: Principal  ·  4 adset(s)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FF00"/>
                </a:solidFill>
                <a:latin typeface="Arial"/>
                <a:hlinkClick r:id="rId3"/>
              </a:rPr>
              <a:t>🔗 Ver este criativo na Biblioteca de Anúncios do Meta (público)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A0A"/>
                </a:solidFill>
                <a:latin typeface="Arial Black"/>
              </a:rPr>
              <a:t>#3 de 10 · TOP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 Black"/>
              </a:rPr>
              <a:t>[AD1] DOMINE AS CURVAS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8FF00"/>
                </a:solidFill>
                <a:latin typeface="Calibri"/>
              </a:rPr>
              <a:t>Rodou em 2 adsets · Compras somadas de TODAS as instâncias</a:t>
            </a:r>
          </a:p>
        </p:txBody>
      </p:sp>
      <p:pic>
        <p:nvPicPr>
          <p:cNvPr id="5" name="Picture 4" descr="14562462557668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365760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0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COMPRAS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C8FF00"/>
                </a:solidFill>
                <a:latin typeface="Arial Black"/>
              </a:rP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8339328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GASTO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8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R$ 817,39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4DFF91"/>
                </a:solidFill>
                <a:latin typeface="Arial Black"/>
              </a:rPr>
              <a:t>R$ 34,06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9328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5DAEFF"/>
                </a:solidFill>
                <a:latin typeface="Arial Black"/>
              </a:rPr>
              <a:t>0.74%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IMPRESSÕES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75.994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9328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CLIQUES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566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8FF00"/>
                </a:solidFill>
                <a:latin typeface="Arial"/>
              </a:rPr>
              <a:t>📊 ONDE ESTE CRIATIVO RODOU (top adsets por compra)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57800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[13 compras]  [LM] [DARK] [ABERTO]  ·  .[]LM] [MOTO] [VENDAS EXPERIÊNCIA] [08.05.26]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68112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[11 compras]  [LM] [DARK] [ABERTO] — Cópia  ·  .[]LM] [MOTO] [VENDAS EXPERIÊNCIA] [08.05.26]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📁 Conta: Nova Motos  ·  2 adset(s)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FF00"/>
                </a:solidFill>
                <a:latin typeface="Arial"/>
                <a:hlinkClick r:id="rId3"/>
              </a:rPr>
              <a:t>🔗 Ver este criativo na Biblioteca de Anúncios do Meta (público)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A0A"/>
                </a:solidFill>
                <a:latin typeface="Arial Black"/>
              </a:rPr>
              <a:t>#4 de 10 · TOP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 Black"/>
              </a:rPr>
              <a:t>[AD1] GUIA EDIÇÃO MOTO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8FF00"/>
                </a:solidFill>
                <a:latin typeface="Calibri"/>
              </a:rPr>
              <a:t>Rodou em 1 adset · Compras somadas de TODAS as instâncias</a:t>
            </a:r>
          </a:p>
        </p:txBody>
      </p:sp>
      <p:pic>
        <p:nvPicPr>
          <p:cNvPr id="5" name="Picture 4" descr="17729289807821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365760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0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COMPRAS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C8FF00"/>
                </a:solidFill>
                <a:latin typeface="Arial Black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8339328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GASTO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8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R$ 454,55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4DFF91"/>
                </a:solidFill>
                <a:latin typeface="Arial Black"/>
              </a:rPr>
              <a:t>R$ 22,73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9328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5DAEFF"/>
                </a:solidFill>
                <a:latin typeface="Arial Black"/>
              </a:rPr>
              <a:t>1.22%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IMPRESSÕES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43.503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9328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CLIQUES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530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8FF00"/>
                </a:solidFill>
                <a:latin typeface="Arial"/>
              </a:rPr>
              <a:t>📊 ONDE ESTE CRIATIVO RODOU (top adsets por compra)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57800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[20 compras]  [LM] [FEED] [DARK]  ·  .[]LM] [MOTO] [VENDAS EXPERIÊNCIA] [08.05.26]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📁 Conta: Nova Motos  ·  1 adset(s)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FF00"/>
                </a:solidFill>
                <a:latin typeface="Arial"/>
                <a:hlinkClick r:id="rId3"/>
              </a:rPr>
              <a:t>🔗 Ver este criativo na Biblioteca de Anúncios do Meta (público) 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A0A"/>
                </a:solidFill>
                <a:latin typeface="Arial Black"/>
              </a:rPr>
              <a:t>#5 de 10 · TOP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 Black"/>
              </a:rPr>
              <a:t>[AD1] Thiaguinho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8FF00"/>
                </a:solidFill>
                <a:latin typeface="Calibri"/>
              </a:rPr>
              <a:t>Rodou em 1 adset · Compras somadas de TODAS as instâncias</a:t>
            </a:r>
          </a:p>
        </p:txBody>
      </p:sp>
      <p:pic>
        <p:nvPicPr>
          <p:cNvPr id="5" name="Picture 4" descr="14870621829936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365760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0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COMPRAS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C8FF00"/>
                </a:solidFill>
                <a:latin typeface="Arial Black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8339328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GASTO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8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R$ 710,78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4DFF91"/>
                </a:solidFill>
                <a:latin typeface="Arial Black"/>
              </a:rPr>
              <a:t>R$ 37,41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9328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5DAEFF"/>
                </a:solidFill>
                <a:latin typeface="Arial Black"/>
              </a:rPr>
              <a:t>1.59%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IMPRESSÕES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73.615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9328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CLIQUES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1.169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8FF00"/>
                </a:solidFill>
                <a:latin typeface="Arial"/>
              </a:rPr>
              <a:t>📊 ONDE ESTE CRIATIVO RODOU (top adsets por compra)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57800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[19 compras]  [LM] ABERTO [PAGODE E SERTANEJO]  ·  [CBO] [SHOWS] [FESTIVAL INTERLAGOS MOTO]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📁 Conta: Nova Motos  ·  1 adset(s)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FF00"/>
                </a:solidFill>
                <a:latin typeface="Arial"/>
                <a:hlinkClick r:id="rId3"/>
              </a:rPr>
              <a:t>🔗 Ver este criativo na Biblioteca de Anúncios do Meta (público) 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A0A"/>
                </a:solidFill>
                <a:latin typeface="Arial Black"/>
              </a:rPr>
              <a:t>#6 de 10 · TOP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 Black"/>
              </a:rPr>
              <a:t>[AD2] O QUE ACONTECE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8FF00"/>
                </a:solidFill>
                <a:latin typeface="Calibri"/>
              </a:rPr>
              <a:t>Rodou em 1 adset · Compras somadas de TODAS as instâncias</a:t>
            </a:r>
          </a:p>
        </p:txBody>
      </p:sp>
      <p:pic>
        <p:nvPicPr>
          <p:cNvPr id="5" name="Picture 4" descr="16609510581401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365760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0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COMPRAS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C8FF00"/>
                </a:solidFill>
                <a:latin typeface="Arial Black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8339328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GASTO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8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R$ 1.055,43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4DFF91"/>
                </a:solidFill>
                <a:latin typeface="Arial Black"/>
              </a:rPr>
              <a:t>R$ 58,64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9328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5DAEFF"/>
                </a:solidFill>
                <a:latin typeface="Arial Black"/>
              </a:rPr>
              <a:t>1.33%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IMPRESSÕES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113.352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9328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CLIQUES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1.511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8FF00"/>
                </a:solidFill>
                <a:latin typeface="Arial"/>
              </a:rPr>
              <a:t>📊 ONDE ESTE CRIATIVO RODOU (top adsets por compra)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57800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[18 compras]  [LM] [NOVOS POSTS] ABERTO + EXCLU  ·  [LM] [RMKT] [FESTIVAL INTERLAGOS] [17.04.2026]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📁 Conta: Principal  ·  1 adset(s)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FF00"/>
                </a:solidFill>
                <a:latin typeface="Arial"/>
                <a:hlinkClick r:id="rId3"/>
              </a:rPr>
              <a:t>🔗 Ver este criativo na Biblioteca de Anúncios do Meta (público)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A0A"/>
                </a:solidFill>
                <a:latin typeface="Arial Black"/>
              </a:rPr>
              <a:t>#7 de 10 · TOP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 Black"/>
              </a:rPr>
              <a:t>[AD2]HUNGRIA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8FF00"/>
                </a:solidFill>
                <a:latin typeface="Calibri"/>
              </a:rPr>
              <a:t>Rodou em 2 adsets · Compras somadas de TODAS as instâncias</a:t>
            </a:r>
          </a:p>
        </p:txBody>
      </p:sp>
      <p:pic>
        <p:nvPicPr>
          <p:cNvPr id="5" name="Picture 4" descr="20977229011591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365760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0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COMPRAS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C8FF00"/>
                </a:solidFill>
                <a:latin typeface="Arial Black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8339328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GASTO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8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R$ 1.272,08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4DFF91"/>
                </a:solidFill>
                <a:latin typeface="Arial Black"/>
              </a:rPr>
              <a:t>R$ 79,50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9328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5DAEFF"/>
                </a:solidFill>
                <a:latin typeface="Arial Black"/>
              </a:rPr>
              <a:t>2.21%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IMPRESSÕES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185.008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9328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CLIQUES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4.096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8FF00"/>
                </a:solidFill>
                <a:latin typeface="Arial"/>
              </a:rPr>
              <a:t>📊 ONDE ESTE CRIATIVO RODOU (top adsets por compra)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57800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[16 compras]  [LM] [FEEDS] [09.05] RAP  ·  [CBO] [MUSICA] [FESTIVAL 2026] [09.05]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68112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[0 compras]  [LM] [FEEDS] [09.05] RAP  ·  [LM] [RMKT] [FESTIVAL INTERLAGOS] [17.04.2026]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📁 Conta: Principal  ·  2 adset(s)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FF00"/>
                </a:solidFill>
                <a:latin typeface="Arial"/>
                <a:hlinkClick r:id="rId3"/>
              </a:rPr>
              <a:t>🔗 Ver este criativo na Biblioteca de Anúncios do Meta (público) 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A0A"/>
                </a:solidFill>
                <a:latin typeface="Arial Black"/>
              </a:rPr>
              <a:t>#8 de 10 · TOP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 Black"/>
              </a:rPr>
              <a:t>[AD2] D2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8FF00"/>
                </a:solidFill>
                <a:latin typeface="Calibri"/>
              </a:rPr>
              <a:t>Rodou em 2 adsets · Compras somadas de TODAS as instâncias</a:t>
            </a:r>
          </a:p>
        </p:txBody>
      </p:sp>
      <p:pic>
        <p:nvPicPr>
          <p:cNvPr id="5" name="Picture 4" descr="7964138400164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365760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0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COMPRAS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C8FF00"/>
                </a:solidFill>
                <a:latin typeface="Arial Black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8339328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GASTO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8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R$ 735,85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4DFF91"/>
                </a:solidFill>
                <a:latin typeface="Arial Black"/>
              </a:rPr>
              <a:t>R$ 49,06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9328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5DAEFF"/>
                </a:solidFill>
                <a:latin typeface="Arial Black"/>
              </a:rPr>
              <a:t>1.13%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IMPRESSÕES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72.187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9328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CLIQUES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816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8FF00"/>
                </a:solidFill>
                <a:latin typeface="Arial"/>
              </a:rPr>
              <a:t>📊 ONDE ESTE CRIATIVO RODOU (top adsets por compra)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57800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[9 compras]  [LM] [NOVOS POSTS] INTERESSES + EXCLU  ·  [LM] [RMKT] [FESTIVAL INTERLAGOS] [17.04.2026]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68112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[6 compras]  [LM] [NOVOS POSTS D2] [ROAS]ABERTO AUTO + EXCLU  ·  [LM] [RMKT] [FESTIVAL INTERLAGOS] [17.04.2026]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📁 Conta: Principal  ·  2 adset(s)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FF00"/>
                </a:solidFill>
                <a:latin typeface="Arial"/>
                <a:hlinkClick r:id="rId3"/>
              </a:rPr>
              <a:t>🔗 Ver este criativo na Biblioteca de Anúncios do Meta (público) 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A0A"/>
                </a:solidFill>
                <a:latin typeface="Arial Black"/>
              </a:rPr>
              <a:t>#9 de 10 · TOP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 Black"/>
              </a:rPr>
              <a:t>[AD1] BANNER AUTO GERAL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8FF00"/>
                </a:solidFill>
                <a:latin typeface="Calibri"/>
              </a:rPr>
              <a:t>Rodou em 1 adset · Compras somadas de TODAS as instâncias</a:t>
            </a:r>
          </a:p>
        </p:txBody>
      </p:sp>
      <p:pic>
        <p:nvPicPr>
          <p:cNvPr id="5" name="Picture 4" descr="278202642875626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365760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0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COMPRAS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C8FF00"/>
                </a:solidFill>
                <a:latin typeface="Arial Black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8339328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GASTO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8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R$ 932,37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4DFF91"/>
                </a:solidFill>
                <a:latin typeface="Arial Black"/>
              </a:rPr>
              <a:t>R$ 66,60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9328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5DAEFF"/>
                </a:solidFill>
                <a:latin typeface="Arial Black"/>
              </a:rPr>
              <a:t>1.54%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IMPRESSÕES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67.649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9328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CLIQUES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1.042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8FF00"/>
                </a:solidFill>
                <a:latin typeface="Arial"/>
              </a:rPr>
              <a:t>📊 ONDE ESTE CRIATIVO RODOU (top adsets por compra)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57800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[14 compras]  [LM] [04.04] [VELOCIDADE AUTO] AUTO  ·  [LM] [04.04] [VENDAS AUTO NOVA] [FESTIVAL INTERLAG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📁 Conta: Principal  ·  1 adset(s)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FF00"/>
                </a:solidFill>
                <a:latin typeface="Arial"/>
                <a:hlinkClick r:id="rId3"/>
              </a:rPr>
              <a:t>🔗 Ver este criativo na Biblioteca de Anúncios do Meta (público) 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A0A"/>
                </a:solidFill>
                <a:latin typeface="Arial Black"/>
              </a:rPr>
              <a:t>#10 de 10 · TOP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 Black"/>
              </a:rPr>
              <a:t>[AD1] JARULE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8FF00"/>
                </a:solidFill>
                <a:latin typeface="Calibri"/>
              </a:rPr>
              <a:t>Rodou em 2 adsets · Compras somadas de TODAS as instâncias</a:t>
            </a:r>
          </a:p>
        </p:txBody>
      </p:sp>
      <p:pic>
        <p:nvPicPr>
          <p:cNvPr id="5" name="Picture 4" descr="9700891120986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365760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0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COMPRAS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C8FF00"/>
                </a:solidFill>
                <a:latin typeface="Arial Black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8339328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GASTO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8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R$ 323,58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4DFF91"/>
                </a:solidFill>
                <a:latin typeface="Arial Black"/>
              </a:rPr>
              <a:t>R$ 23,11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9328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5DAEFF"/>
                </a:solidFill>
                <a:latin typeface="Arial Black"/>
              </a:rPr>
              <a:t>1.96%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IMPRESSÕES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28.577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9328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CLIQUES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561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8FF00"/>
                </a:solidFill>
                <a:latin typeface="Arial"/>
              </a:rPr>
              <a:t>📊 ONDE ESTE CRIATIVO RODOU (top adsets por compra)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57800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[11 compras]  [LM] ABERTO [RAP] — Cópia  ·  [ABO] [SHOWS] [MOTOS] [15.05.26]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68112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[3 compras]  [LM] ABERTO [RAP]  ·  [CBO] [SHOWS] [FESTIVAL INTERLAGOS MOTO]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📁 Conta: Nova Motos  ·  2 adset(s)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FF00"/>
                </a:solidFill>
                <a:latin typeface="Arial"/>
                <a:hlinkClick r:id="rId3"/>
              </a:rPr>
              <a:t>🔗 Ver este criativo na Biblioteca de Anúncios do Meta (público) 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 Black"/>
              </a:rPr>
              <a:t>TOP REMARKETING · CONTA PRINCIPAL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C8FF00"/>
                </a:solidFill>
                <a:latin typeface="Calibri"/>
              </a:rPr>
              <a:t>Campanha [LM] [RMKT] [FESTIVAL INTERLAGOS] [17.04.2026]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365760" cy="41148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l"/>
            <a:r>
              <a:rPr sz="1100" b="1">
                <a:solidFill>
                  <a:srgbClr val="0A0A0A"/>
                </a:solidFill>
                <a:latin typeface="Arial"/>
              </a:rPr>
              <a:t>#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1005840" cy="41148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l"/>
            <a:r>
              <a:rPr sz="1100" b="1">
                <a:solidFill>
                  <a:srgbClr val="0A0A0A"/>
                </a:solidFill>
                <a:latin typeface="Arial"/>
              </a:rPr>
              <a:t>Conta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1645920"/>
            <a:ext cx="822960" cy="41148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l"/>
            <a:r>
              <a:rPr sz="1100" b="1">
                <a:solidFill>
                  <a:srgbClr val="0A0A0A"/>
                </a:solidFill>
                <a:latin typeface="Arial"/>
              </a:rPr>
              <a:t>Compras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645920"/>
            <a:ext cx="1097280" cy="41148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l"/>
            <a:r>
              <a:rPr sz="1100" b="1">
                <a:solidFill>
                  <a:srgbClr val="0A0A0A"/>
                </a:solidFill>
                <a:latin typeface="Arial"/>
              </a:rPr>
              <a:t>Gasto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645920"/>
            <a:ext cx="1005840" cy="41148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l"/>
            <a:r>
              <a:rPr sz="1100" b="1">
                <a:solidFill>
                  <a:srgbClr val="0A0A0A"/>
                </a:solidFill>
                <a:latin typeface="Arial"/>
              </a:rPr>
              <a:t>CPP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645920"/>
            <a:ext cx="640080" cy="41148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l"/>
            <a:r>
              <a:rPr sz="1100" b="1">
                <a:solidFill>
                  <a:srgbClr val="0A0A0A"/>
                </a:solidFill>
                <a:latin typeface="Arial"/>
              </a:rPr>
              <a:t>CTR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645920"/>
            <a:ext cx="6949440" cy="41148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l"/>
            <a:r>
              <a:rPr sz="1100" b="1">
                <a:solidFill>
                  <a:srgbClr val="0A0A0A"/>
                </a:solidFill>
                <a:latin typeface="Arial"/>
              </a:rPr>
              <a:t>Anúncio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03120"/>
            <a:ext cx="36576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103120"/>
            <a:ext cx="100584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AAAAAA"/>
                </a:solidFill>
                <a:latin typeface="Calibri"/>
              </a:rPr>
              <a:t>Principal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2103120"/>
            <a:ext cx="82296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29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103120"/>
            <a:ext cx="109728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R$ 1.639,90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2103120"/>
            <a:ext cx="100584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4DFF91"/>
                </a:solidFill>
                <a:latin typeface="Calibri"/>
              </a:rPr>
              <a:t>R$ 56,55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103120"/>
            <a:ext cx="64008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1.37%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2103120"/>
            <a:ext cx="694944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[AD] STREET 108 (4 adsets)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560320"/>
            <a:ext cx="36576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2560320"/>
            <a:ext cx="100584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AAAAAA"/>
                </a:solidFill>
                <a:latin typeface="Calibri"/>
              </a:rPr>
              <a:t>Principal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2560320"/>
            <a:ext cx="82296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18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2560320"/>
            <a:ext cx="109728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R$ 1.055,43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2560320"/>
            <a:ext cx="100584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4DFF91"/>
                </a:solidFill>
                <a:latin typeface="Calibri"/>
              </a:rPr>
              <a:t>R$ 58,64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2560320"/>
            <a:ext cx="64008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1.33%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0" y="2560320"/>
            <a:ext cx="694944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[AD2] O QUE ACONTECE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017520"/>
            <a:ext cx="36576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3017520"/>
            <a:ext cx="100584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AAAAAA"/>
                </a:solidFill>
                <a:latin typeface="Calibri"/>
              </a:rPr>
              <a:t>Principal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3017520"/>
            <a:ext cx="82296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15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3017520"/>
            <a:ext cx="109728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R$ 735,85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0" y="3017520"/>
            <a:ext cx="100584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4DFF91"/>
                </a:solidFill>
                <a:latin typeface="Calibri"/>
              </a:rPr>
              <a:t>R$ 49,06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017520"/>
            <a:ext cx="64008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1.13%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3017520"/>
            <a:ext cx="694944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[AD2] D2 (2 adsets)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474720"/>
            <a:ext cx="36576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3474720"/>
            <a:ext cx="100584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AAAAAA"/>
                </a:solidFill>
                <a:latin typeface="Calibri"/>
              </a:rPr>
              <a:t>Principal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20240" y="3474720"/>
            <a:ext cx="82296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3474720"/>
            <a:ext cx="109728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R$ 757,39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0" y="3474720"/>
            <a:ext cx="100584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4DFF91"/>
                </a:solidFill>
                <a:latin typeface="Calibri"/>
              </a:rPr>
              <a:t>R$ 63,12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46320" y="3474720"/>
            <a:ext cx="64008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1.42%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0" y="3474720"/>
            <a:ext cx="694944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[AD2] POST INGRESSOS INFORMATIVO (2 adsets)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931920"/>
            <a:ext cx="36576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3931920"/>
            <a:ext cx="100584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AAAAAA"/>
                </a:solidFill>
                <a:latin typeface="Calibri"/>
              </a:rPr>
              <a:t>Principal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20240" y="3931920"/>
            <a:ext cx="82296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0" y="3931920"/>
            <a:ext cx="109728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R$ 980,05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0" y="3931920"/>
            <a:ext cx="100584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4DFF91"/>
                </a:solidFill>
                <a:latin typeface="Calibri"/>
              </a:rPr>
              <a:t>R$ 81,67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6320" y="3931920"/>
            <a:ext cx="64008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1.44%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0" y="3931920"/>
            <a:ext cx="694944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[AD2] segundo lote (3 adsets)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389120"/>
            <a:ext cx="36576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4389120"/>
            <a:ext cx="100584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AAAAAA"/>
                </a:solidFill>
                <a:latin typeface="Calibri"/>
              </a:rPr>
              <a:t>Principal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20240" y="4389120"/>
            <a:ext cx="82296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11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0" y="4389120"/>
            <a:ext cx="109728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R$ 815,24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40480" y="4389120"/>
            <a:ext cx="100584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4DFF91"/>
                </a:solidFill>
                <a:latin typeface="Calibri"/>
              </a:rPr>
              <a:t>R$ 74,11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46320" y="4389120"/>
            <a:ext cx="64008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1.8%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0" y="4389120"/>
            <a:ext cx="694944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[AD2]matheus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4846320"/>
            <a:ext cx="36576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" y="4846320"/>
            <a:ext cx="100584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AAAAAA"/>
                </a:solidFill>
                <a:latin typeface="Calibri"/>
              </a:rPr>
              <a:t>Principal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20240" y="4846320"/>
            <a:ext cx="82296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11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0" y="4846320"/>
            <a:ext cx="109728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R$ 638,94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40480" y="4846320"/>
            <a:ext cx="100584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4DFF91"/>
                </a:solidFill>
                <a:latin typeface="Calibri"/>
              </a:rPr>
              <a:t>R$ 58,09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46320" y="4846320"/>
            <a:ext cx="64008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2.86%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0" y="4846320"/>
            <a:ext cx="694944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[AD2] VIRADA DE LOTE JARULE (2 adsets)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5303520"/>
            <a:ext cx="36576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" y="5303520"/>
            <a:ext cx="100584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AAAAAA"/>
                </a:solidFill>
                <a:latin typeface="Calibri"/>
              </a:rPr>
              <a:t>Principal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20240" y="5303520"/>
            <a:ext cx="82296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7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0" y="5303520"/>
            <a:ext cx="109728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R$ 379,23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40480" y="5303520"/>
            <a:ext cx="100584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4DFF91"/>
                </a:solidFill>
                <a:latin typeface="Calibri"/>
              </a:rPr>
              <a:t>R$ 54,18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46320" y="5303520"/>
            <a:ext cx="64008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1.78%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0" y="5303520"/>
            <a:ext cx="694944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[AD2] pista premium (3 adsets)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5760720"/>
            <a:ext cx="36576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4400" y="5760720"/>
            <a:ext cx="100584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AAAAAA"/>
                </a:solidFill>
                <a:latin typeface="Calibri"/>
              </a:rPr>
              <a:t>Principal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20240" y="5760720"/>
            <a:ext cx="82296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0" y="5760720"/>
            <a:ext cx="109728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R$ 113,81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40480" y="5760720"/>
            <a:ext cx="100584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4DFF91"/>
                </a:solidFill>
                <a:latin typeface="Calibri"/>
              </a:rPr>
              <a:t>R$ 56,91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846320" y="5760720"/>
            <a:ext cx="64008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1.28%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0" y="5760720"/>
            <a:ext cx="6949440" cy="45720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[AD1] medina (2 adsets)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8640" y="6217920"/>
            <a:ext cx="36576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10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4400" y="6217920"/>
            <a:ext cx="100584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AAAAAA"/>
                </a:solidFill>
                <a:latin typeface="Calibri"/>
              </a:rPr>
              <a:t>Principal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920240" y="6217920"/>
            <a:ext cx="82296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b="1" sz="1000">
                <a:solidFill>
                  <a:srgbClr val="C8FF00"/>
                </a:solidFill>
                <a:latin typeface="Calibri"/>
              </a:rP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0" y="6217920"/>
            <a:ext cx="109728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R$ 10,61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840480" y="6217920"/>
            <a:ext cx="100584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4DFF91"/>
                </a:solidFill>
                <a:latin typeface="Calibri"/>
              </a:rPr>
              <a:t>R$ 10,61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46320" y="6217920"/>
            <a:ext cx="64008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0.7%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400" y="6217920"/>
            <a:ext cx="6949440" cy="457200"/>
          </a:xfrm>
          <a:prstGeom prst="rect">
            <a:avLst/>
          </a:prstGeom>
          <a:solidFill>
            <a:srgbClr val="181818"/>
          </a:solidFill>
          <a:ln w="63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73152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</a:rPr>
              <a:t>[AD1] medina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A0A"/>
                </a:solidFill>
                <a:latin typeface="Arial Black"/>
              </a:rPr>
              <a:t>#1 de 10 · TOP RMKT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 Black"/>
              </a:rPr>
              <a:t>[AD] STREET 108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8FF00"/>
                </a:solidFill>
                <a:latin typeface="Calibri"/>
              </a:rPr>
              <a:t>Rodou em 4 adsets · Compras somadas de TODAS as instâncias</a:t>
            </a:r>
          </a:p>
        </p:txBody>
      </p:sp>
      <p:pic>
        <p:nvPicPr>
          <p:cNvPr id="5" name="Picture 4" descr="16296479514713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365760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0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COMPRAS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C8FF00"/>
                </a:solidFill>
                <a:latin typeface="Arial Black"/>
              </a:rP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8339328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GASTO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8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R$ 1.639,90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4DFF91"/>
                </a:solidFill>
                <a:latin typeface="Arial Black"/>
              </a:rPr>
              <a:t>R$ 56,55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9328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5DAEFF"/>
                </a:solidFill>
                <a:latin typeface="Arial Black"/>
              </a:rPr>
              <a:t>1.37%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IMPRESSÕES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144.080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9328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CLIQUES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1.980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8FF00"/>
                </a:solidFill>
                <a:latin typeface="Arial"/>
              </a:rPr>
              <a:t>📊 ONDE ESTE CRIATIVO RODOU (top adsets por compra)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57800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[15 compras]  [LM] [STREETPASS 108] LKL+ EXCLU v2  ·  [LM] [RMKT] [FESTIVAL INTERLAGOS] [17.04.2026]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68112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[9 compras]  [LM] [STREETPASS 108] INTERESSES + EXCLU v2  ·  [LM] [RMKT] [FESTIVAL INTERLAGOS] [17.04.2026]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678424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[4 compras]  [LM] [STREETPASS 108] INTERESSES + EXCLU v2 — Cópia  ·  [LM] [RMKT] [FESTIVAL INTERLAGOS] [17.04.2026]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88736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[1 compras]  [LM] [STREETPASS 108] INTERESSES + EXCLU v2 — Cópia  ·  [LM] [RMKT] [FESTIVAL INTERLAGOS] [17.04.2026]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📁 Conta: Principal  ·  4 adset(s)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FF00"/>
                </a:solidFill>
                <a:latin typeface="Arial"/>
                <a:hlinkClick r:id="rId3"/>
              </a:rPr>
              <a:t>🔗 Ver este criativo na Biblioteca de Anúncios do Meta (público) 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A0A"/>
                </a:solidFill>
                <a:latin typeface="Arial Black"/>
              </a:rPr>
              <a:t>#2 de 10 · TOP RMKT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 Black"/>
              </a:rPr>
              <a:t>[AD2] O QUE ACONTECE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8FF00"/>
                </a:solidFill>
                <a:latin typeface="Calibri"/>
              </a:rPr>
              <a:t>Rodou em 1 adset · Compras somadas de TODAS as instâncias</a:t>
            </a:r>
          </a:p>
        </p:txBody>
      </p:sp>
      <p:pic>
        <p:nvPicPr>
          <p:cNvPr id="5" name="Picture 4" descr="16609510581401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365760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0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COMPRAS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C8FF00"/>
                </a:solidFill>
                <a:latin typeface="Arial Black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8339328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GASTO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8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R$ 1.055,43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4DFF91"/>
                </a:solidFill>
                <a:latin typeface="Arial Black"/>
              </a:rPr>
              <a:t>R$ 58,64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9328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5DAEFF"/>
                </a:solidFill>
                <a:latin typeface="Arial Black"/>
              </a:rPr>
              <a:t>1.33%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IMPRESSÕES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113.352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9328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CLIQUES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1.511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8FF00"/>
                </a:solidFill>
                <a:latin typeface="Arial"/>
              </a:rPr>
              <a:t>📊 ONDE ESTE CRIATIVO RODOU (top adsets por compra)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57800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[18 compras]  [LM] [NOVOS POSTS] ABERTO + EXCLU  ·  [LM] [RMKT] [FESTIVAL INTERLAGOS] [17.04.2026]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📁 Conta: Principal  ·  1 adset(s)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FF00"/>
                </a:solidFill>
                <a:latin typeface="Arial"/>
                <a:hlinkClick r:id="rId3"/>
              </a:rPr>
              <a:t>🔗 Ver este criativo na Biblioteca de Anúncios do Meta (público) →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A0A"/>
                </a:solidFill>
                <a:latin typeface="Arial Black"/>
              </a:rPr>
              <a:t>#3 de 10 · TOP RMKT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 Black"/>
              </a:rPr>
              <a:t>[AD2] D2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8FF00"/>
                </a:solidFill>
                <a:latin typeface="Calibri"/>
              </a:rPr>
              <a:t>Rodou em 2 adsets · Compras somadas de TODAS as instâncias</a:t>
            </a:r>
          </a:p>
        </p:txBody>
      </p:sp>
      <p:pic>
        <p:nvPicPr>
          <p:cNvPr id="5" name="Picture 4" descr="7964138400164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365760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0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COMPRAS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C8FF00"/>
                </a:solidFill>
                <a:latin typeface="Arial Black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8339328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GASTO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8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R$ 735,85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4DFF91"/>
                </a:solidFill>
                <a:latin typeface="Arial Black"/>
              </a:rPr>
              <a:t>R$ 49,06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9328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5DAEFF"/>
                </a:solidFill>
                <a:latin typeface="Arial Black"/>
              </a:rPr>
              <a:t>1.13%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IMPRESSÕES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72.187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9328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CLIQUES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816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8FF00"/>
                </a:solidFill>
                <a:latin typeface="Arial"/>
              </a:rPr>
              <a:t>📊 ONDE ESTE CRIATIVO RODOU (top adsets por compra)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57800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[9 compras]  [LM] [NOVOS POSTS] INTERESSES + EXCLU  ·  [LM] [RMKT] [FESTIVAL INTERLAGOS] [17.04.2026]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68112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[6 compras]  [LM] [NOVOS POSTS D2] [ROAS]ABERTO AUTO + EXCLU  ·  [LM] [RMKT] [FESTIVAL INTERLAGOS] [17.04.2026]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📁 Conta: Principal  ·  2 adset(s)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FF00"/>
                </a:solidFill>
                <a:latin typeface="Arial"/>
                <a:hlinkClick r:id="rId3"/>
              </a:rPr>
              <a:t>🔗 Ver este criativo na Biblioteca de Anúncios do Meta (público) 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A0A"/>
                </a:solidFill>
                <a:latin typeface="Arial Black"/>
              </a:rPr>
              <a:t>#4 de 10 · TOP RMKT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 Black"/>
              </a:rPr>
              <a:t>[AD2] POST INGRESSOS INFORMATIVO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8FF00"/>
                </a:solidFill>
                <a:latin typeface="Calibri"/>
              </a:rPr>
              <a:t>Rodou em 2 adsets · Compras somadas de TODAS as instâncias</a:t>
            </a:r>
          </a:p>
        </p:txBody>
      </p:sp>
      <p:pic>
        <p:nvPicPr>
          <p:cNvPr id="5" name="Picture 4" descr="12997879681790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365760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0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COMPRAS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C8FF00"/>
                </a:solidFill>
                <a:latin typeface="Arial Black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8339328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GASTO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8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R$ 757,39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4DFF91"/>
                </a:solidFill>
                <a:latin typeface="Arial Black"/>
              </a:rPr>
              <a:t>R$ 63,12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9328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5DAEFF"/>
                </a:solidFill>
                <a:latin typeface="Arial Black"/>
              </a:rPr>
              <a:t>1.42%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IMPRESSÕES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81.578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9328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CLIQUES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1.155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8FF00"/>
                </a:solidFill>
                <a:latin typeface="Arial"/>
              </a:rPr>
              <a:t>📊 ONDE ESTE CRIATIVO RODOU (top adsets por compra)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57800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[12 compras]  [LM] [NOVOS POSTS] INTERESSES + EXCLU  ·  [LM] [RMKT] [FESTIVAL INTERLAGOS] [17.04.2026]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68112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[0 compras]  [LM] [NOVOS POSTS D2] [ROAS]ABERTO AUTO + EXCLU  ·  [LM] [RMKT] [FESTIVAL INTERLAGOS] [17.04.2026]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📁 Conta: Principal  ·  2 adset(s)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FF00"/>
                </a:solidFill>
                <a:latin typeface="Arial"/>
                <a:hlinkClick r:id="rId3"/>
              </a:rPr>
              <a:t>🔗 Ver este criativo na Biblioteca de Anúncios do Meta (público) →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A0A"/>
                </a:solidFill>
                <a:latin typeface="Arial Black"/>
              </a:rPr>
              <a:t>#5 de 10 · TOP RMKT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 Black"/>
              </a:rPr>
              <a:t>[AD2] segundo lote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8FF00"/>
                </a:solidFill>
                <a:latin typeface="Calibri"/>
              </a:rPr>
              <a:t>Rodou em 3 adsets · Compras somadas de TODAS as instâncias</a:t>
            </a:r>
          </a:p>
        </p:txBody>
      </p:sp>
      <p:pic>
        <p:nvPicPr>
          <p:cNvPr id="5" name="Picture 4" descr="22777541794225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365760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0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COMPRAS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C8FF00"/>
                </a:solidFill>
                <a:latin typeface="Arial Black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8339328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GASTO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8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R$ 980,05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4DFF91"/>
                </a:solidFill>
                <a:latin typeface="Arial Black"/>
              </a:rPr>
              <a:t>R$ 81,67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9328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5DAEFF"/>
                </a:solidFill>
                <a:latin typeface="Arial Black"/>
              </a:rPr>
              <a:t>1.44%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IMPRESSÕES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96.208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9328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CLIQUES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1.383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8FF00"/>
                </a:solidFill>
                <a:latin typeface="Arial"/>
              </a:rPr>
              <a:t>📊 ONDE ESTE CRIATIVO RODOU (top adsets por compra)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57800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[9 compras]  [LM] [2 LOTE] [09.05]ABERTO + EXCLU v3  ·  [LM] [RMKT] [FESTIVAL INTERLAGOS] [17.04.2026]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68112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[3 compras]  [LM] [2 LOTE] [09.05] Semelhante (3%) - [LM] VISITARAM PERFI  ·  [LM] [RMKT] [FESTIVAL INTERLAGOS] [17.04.2026]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678424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[0 compras]  [LM] [2 LOTE] [09.05]INTERESSES + EXCLU v2  ·  [LM] [RMKT] [FESTIVAL INTERLAGOS] [17.04.2026]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📁 Conta: Principal  ·  3 adset(s)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FF00"/>
                </a:solidFill>
                <a:latin typeface="Arial"/>
                <a:hlinkClick r:id="rId3"/>
              </a:rPr>
              <a:t>🔗 Ver este criativo na Biblioteca de Anúncios do Meta (público) →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A0A"/>
                </a:solidFill>
                <a:latin typeface="Arial Black"/>
              </a:rPr>
              <a:t>#6 de 10 · TOP RMKT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 Black"/>
              </a:rPr>
              <a:t>[AD2]matheus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8FF00"/>
                </a:solidFill>
                <a:latin typeface="Calibri"/>
              </a:rPr>
              <a:t>Rodou em 1 adset · Compras somadas de TODAS as instâncias</a:t>
            </a:r>
          </a:p>
        </p:txBody>
      </p:sp>
      <p:pic>
        <p:nvPicPr>
          <p:cNvPr id="5" name="Picture 4" descr="21896173885301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365760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0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COMPRAS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C8FF00"/>
                </a:solidFill>
                <a:latin typeface="Arial Black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8339328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GASTO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8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R$ 815,24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4DFF91"/>
                </a:solidFill>
                <a:latin typeface="Arial Black"/>
              </a:rPr>
              <a:t>R$ 74,11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9328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5DAEFF"/>
                </a:solidFill>
                <a:latin typeface="Arial Black"/>
              </a:rPr>
              <a:t>1.8%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IMPRESSÕES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108.436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9328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CLIQUES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1.947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8FF00"/>
                </a:solidFill>
                <a:latin typeface="Arial"/>
              </a:rPr>
              <a:t>📊 ONDE ESTE CRIATIVO RODOU (top adsets por compra)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57800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[11 compras]  [LM] [FEEDS] [09.05] SERTANEJO  ·  [LM] [RMKT] [FESTIVAL INTERLAGOS] [17.04.2026]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📁 Conta: Principal  ·  1 adset(s)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FF00"/>
                </a:solidFill>
                <a:latin typeface="Arial"/>
                <a:hlinkClick r:id="rId3"/>
              </a:rPr>
              <a:t>🔗 Ver este criativo na Biblioteca de Anúncios do Meta (público) →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A0A"/>
                </a:solidFill>
                <a:latin typeface="Arial Black"/>
              </a:rPr>
              <a:t>#7 de 10 · TOP RMKT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 Black"/>
              </a:rPr>
              <a:t>[AD2] VIRADA DE LOTE JARULE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8FF00"/>
                </a:solidFill>
                <a:latin typeface="Calibri"/>
              </a:rPr>
              <a:t>Rodou em 2 adsets · Compras somadas de TODAS as instâncias</a:t>
            </a:r>
          </a:p>
        </p:txBody>
      </p:sp>
      <p:pic>
        <p:nvPicPr>
          <p:cNvPr id="5" name="Picture 4" descr="20879400854811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365760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0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COMPRAS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C8FF00"/>
                </a:solidFill>
                <a:latin typeface="Arial Black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8339328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GASTO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8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R$ 638,94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4DFF91"/>
                </a:solidFill>
                <a:latin typeface="Arial Black"/>
              </a:rPr>
              <a:t>R$ 58,09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9328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5DAEFF"/>
                </a:solidFill>
                <a:latin typeface="Arial Black"/>
              </a:rPr>
              <a:t>2.86%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IMPRESSÕES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57.922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9328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CLIQUES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1.657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8FF00"/>
                </a:solidFill>
                <a:latin typeface="Arial"/>
              </a:rPr>
              <a:t>📊 ONDE ESTE CRIATIVO RODOU (top adsets por compra)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57800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[8 compras]  [LM] [13.05.26] [SEGUNDO LOTE JARULE] INTERESSES + EXCLU v2  ·  [LM] [RMKT] [FESTIVAL INTERLAGOS] [17.04.2026]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68112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[3 compras]  [LM] [13.05.26] [VIRADO DE LOTE JARULE] [SEGUNDO LOTE] ABERT  ·  [LM] [RMKT] [FESTIVAL INTERLAGOS] [17.04.2026]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📁 Conta: Principal  ·  2 adset(s)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FF00"/>
                </a:solidFill>
                <a:latin typeface="Arial"/>
                <a:hlinkClick r:id="rId3"/>
              </a:rPr>
              <a:t>🔗 Ver este criativo na Biblioteca de Anúncios do Meta (público) →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A0A"/>
                </a:solidFill>
                <a:latin typeface="Arial Black"/>
              </a:rPr>
              <a:t>#8 de 10 · TOP RMKT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 Black"/>
              </a:rPr>
              <a:t>[AD2] pista premium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8FF00"/>
                </a:solidFill>
                <a:latin typeface="Calibri"/>
              </a:rPr>
              <a:t>Rodou em 3 adsets · Compras somadas de TODAS as instâncias</a:t>
            </a:r>
          </a:p>
        </p:txBody>
      </p:sp>
      <p:pic>
        <p:nvPicPr>
          <p:cNvPr id="5" name="Picture 4" descr="24454084026294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365760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0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COMPRAS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C8FF00"/>
                </a:solidFill>
                <a:latin typeface="Arial Black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8339328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GASTO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8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R$ 379,23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4DFF91"/>
                </a:solidFill>
                <a:latin typeface="Arial Black"/>
              </a:rPr>
              <a:t>R$ 54,18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9328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5DAEFF"/>
                </a:solidFill>
                <a:latin typeface="Arial Black"/>
              </a:rPr>
              <a:t>1.78%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IMPRESSÕES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29.533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9328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CLIQUES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525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8FF00"/>
                </a:solidFill>
                <a:latin typeface="Arial"/>
              </a:rPr>
              <a:t>📊 ONDE ESTE CRIATIVO RODOU (top adsets por compra)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57800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[6 compras]  [LM] [STREETPASS 108] INTERESSES + EXCLU v2  ·  [LM] [RMKT] [FESTIVAL INTERLAGOS] [17.04.2026]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68112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[1 compras]  [LM] [STREETPASS 108] INTERESSES + EXCLU v2 — Cópia  ·  [LM] [RMKT] [FESTIVAL INTERLAGOS] [17.04.2026]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678424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[0 compras]  [LM] [STREETPASS 108] INTERESSES + EXCLU v2 — Cópia  ·  [LM] [RMKT] [FESTIVAL INTERLAGOS] [17.04.2026]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📁 Conta: Principal  ·  3 adset(s)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FF00"/>
                </a:solidFill>
                <a:latin typeface="Arial"/>
                <a:hlinkClick r:id="rId3"/>
              </a:rPr>
              <a:t>🔗 Ver este criativo na Biblioteca de Anúncios do Meta (público) →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A0A"/>
                </a:solidFill>
                <a:latin typeface="Arial Black"/>
              </a:rPr>
              <a:t>#9 de 10 · TOP RMKT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 Black"/>
              </a:rPr>
              <a:t>[AD1] medina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8FF00"/>
                </a:solidFill>
                <a:latin typeface="Calibri"/>
              </a:rPr>
              <a:t>Rodou em 2 adsets · Compras somadas de TODAS as instâncias</a:t>
            </a:r>
          </a:p>
        </p:txBody>
      </p:sp>
      <p:pic>
        <p:nvPicPr>
          <p:cNvPr id="5" name="Picture 4" descr="9589553237814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365760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0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COMPRAS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C8FF00"/>
                </a:solidFill>
                <a:latin typeface="Arial Black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8339328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GASTO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8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R$ 113,81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4DFF91"/>
                </a:solidFill>
                <a:latin typeface="Arial Black"/>
              </a:rPr>
              <a:t>R$ 56,91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9328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5DAEFF"/>
                </a:solidFill>
                <a:latin typeface="Arial Black"/>
              </a:rPr>
              <a:t>1.28%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IMPRESSÕES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9.977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9328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CLIQUES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128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8FF00"/>
                </a:solidFill>
                <a:latin typeface="Arial"/>
              </a:rPr>
              <a:t>📊 ONDE ESTE CRIATIVO RODOU (top adsets por compra)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57800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[1 compras]  [LM] [NOVOS POSTS] INTERESSES + EXCLU  ·  [LM] [RMKT] [FESTIVAL INTERLAGOS] [17.04.2026]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68112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[1 compras]  [LM] [NOVOS POSTS D2] [ROAS]ABERTO AUTO + EXCLU  ·  [LM] [RMKT] [FESTIVAL INTERLAGOS] [17.04.2026]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📁 Conta: Principal  ·  2 adset(s)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FF00"/>
                </a:solidFill>
                <a:latin typeface="Arial"/>
                <a:hlinkClick r:id="rId3"/>
              </a:rPr>
              <a:t>🔗 Ver este criativo na Biblioteca de Anúncios do Meta (público) →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103120" cy="365760"/>
          </a:xfrm>
          <a:prstGeom prst="rect">
            <a:avLst/>
          </a:prstGeom>
          <a:solidFill>
            <a:srgbClr val="C8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A0A"/>
                </a:solidFill>
                <a:latin typeface="Arial Black"/>
              </a:rPr>
              <a:t>#10 de 10 · TOP RMKT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 Black"/>
              </a:rPr>
              <a:t>[AD1] medina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8FF00"/>
                </a:solidFill>
                <a:latin typeface="Calibri"/>
              </a:rPr>
              <a:t>Rodou em 1 adset · Compras somadas de TODAS as instâncias</a:t>
            </a:r>
          </a:p>
        </p:txBody>
      </p:sp>
      <p:pic>
        <p:nvPicPr>
          <p:cNvPr id="5" name="Picture 4" descr="9589553237814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365760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0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COMPRAS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C8FF00"/>
                </a:solidFill>
                <a:latin typeface="Arial Black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8339328" y="1828800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901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GASTO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8" y="21488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R$ 10,61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4DFF91"/>
                </a:solidFill>
                <a:latin typeface="Arial Black"/>
              </a:rPr>
              <a:t>R$ 10,61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9328" y="2852928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926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172968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5DAEFF"/>
                </a:solidFill>
                <a:latin typeface="Arial Black"/>
              </a:rPr>
              <a:t>0.7%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IMPRESSÕES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1.004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39328" y="3877056"/>
            <a:ext cx="3657600" cy="914400"/>
          </a:xfrm>
          <a:prstGeom prst="rect">
            <a:avLst/>
          </a:prstGeom>
          <a:solidFill>
            <a:srgbClr val="161616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95020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  <a:latin typeface="Arial"/>
              </a:rPr>
              <a:t>CLIQUES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4197096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111556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8FF00"/>
                </a:solidFill>
                <a:latin typeface="Arial"/>
              </a:rPr>
              <a:t>📊 ONDE ESTE CRIATIVO RODOU (top adsets por compra)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57800"/>
            <a:ext cx="1115568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• [1 compras]  [LM] [NOVOS POSTS] ABERTO + EXCLU  ·  [LM] [RMKT] [FESTIVAL INTERLAGOS] [17.04.2026]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Calibri"/>
              </a:rPr>
              <a:t>📁 Conta: Principal  ·  1 adset(s)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8FF00"/>
                </a:solidFill>
                <a:latin typeface="Arial"/>
                <a:hlinkClick r:id="rId3"/>
              </a:rPr>
              <a:t>🔗 Ver este criativo na Biblioteca de Anúncios do Meta (público) →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200" b="1">
                <a:solidFill>
                  <a:srgbClr val="C8FF00"/>
                </a:solidFill>
                <a:latin typeface="Arial Black"/>
              </a:rPr>
              <a:t>INSIGHTS &amp; RECOMENDAÇÕES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400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0">
                <a:solidFill>
                  <a:srgbClr val="C8FF00"/>
                </a:solidFill>
                <a:latin typeface="Calibri"/>
              </a:rPr>
              <a:t>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280160"/>
            <a:ext cx="10424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 Black"/>
              </a:rPr>
              <a:t>#1 GERAL é "VENDAS ABERTAS"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00200"/>
            <a:ext cx="10424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40 compras (2× mais que o segundo). Mantenha rodando — criativo evergreen.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21408"/>
            <a:ext cx="6400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0">
                <a:solidFill>
                  <a:srgbClr val="C8FF00"/>
                </a:solidFill>
                <a:latin typeface="Calibri"/>
              </a:rPr>
              <a:t>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21408"/>
            <a:ext cx="10424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 Black"/>
              </a:rPr>
              <a:t>Melhor CPP da janela: GUIA EDIÇÃO MOTO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441448"/>
            <a:ext cx="10424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R$ 22,61 por compra (Conta Nova Motos). 3× mais barato que a média. Vale escalar.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62656"/>
            <a:ext cx="6400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0">
                <a:solidFill>
                  <a:srgbClr val="C8FF00"/>
                </a:solidFill>
                <a:latin typeface="Calibri"/>
              </a:rP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962656"/>
            <a:ext cx="10424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 Black"/>
              </a:rPr>
              <a:t>Conta Nova Motos é 2,9× mais eficiente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82696"/>
            <a:ext cx="10424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CPP médio R$ 31 vs R$ 65 da Principal. Avaliar migrar mais budget.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03904"/>
            <a:ext cx="6400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0">
                <a:solidFill>
                  <a:srgbClr val="C8FF00"/>
                </a:solidFill>
                <a:latin typeface="Calibri"/>
              </a:rPr>
              <a:t>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803904"/>
            <a:ext cx="10424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 Black"/>
              </a:rPr>
              <a:t>4 dos 10 melhores são REMARKETING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123944"/>
            <a:ext cx="10424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A campanha [RMKT] domina pos #4, #6, #9, #10. Quem visita o site engaja.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45152"/>
            <a:ext cx="6400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0">
                <a:solidFill>
                  <a:srgbClr val="C8FF00"/>
                </a:solidFill>
                <a:latin typeface="Calibri"/>
              </a:rPr>
              <a:t>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645152"/>
            <a:ext cx="10424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 Black"/>
              </a:rPr>
              <a:t>Maior CTR (2,93%): "VIRADA DE LOTE JARULE"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965192"/>
            <a:ext cx="10424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Combinar headliner + urgência de virada de lote é a fórmula campeã.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486400"/>
            <a:ext cx="64008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0">
                <a:solidFill>
                  <a:srgbClr val="C8FF00"/>
                </a:solidFill>
                <a:latin typeface="Calibri"/>
              </a:rPr>
              <a:t>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486400"/>
            <a:ext cx="10424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 Black"/>
              </a:rPr>
              <a:t>STREET 108 e D2 aparecem 2× cada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806440"/>
            <a:ext cx="10424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Calibri"/>
              </a:rPr>
              <a:t>Criativos robustos em múltiplos adsets — replicar pattern em outros temas.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