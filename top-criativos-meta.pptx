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vendas+abertas+-+compre+seu+ingresso+%F0%9F%8E%9F%EF%B8%8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treet+1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omine+as+curva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guia+edi%C3%A7%C3%A3o+moto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thiaguinh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o+que+acontece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hungri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2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banner+auto+geral+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jarul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treet+108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o+que+acontec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d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post+ingressos+informativo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segundo+lot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atheu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virada+de+lote+jarule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pista+premiu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edin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hyperlink" Target="https://www.facebook.com/ads/library/?active_status=all&amp;ad_type=all&amp;country=BR&amp;view_all_page_id=539197779284349&amp;search_type=keyword_unordered&amp;media_type=all&amp;q=medina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8FF00"/>
                </a:solidFill>
                <a:latin typeface="Arial Black"/>
              </a:rPr>
              <a:t>LIME · AGÊNCIA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Arial Black"/>
              </a:rPr>
              <a:t>TOP CRIATIVOS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C8FF00"/>
                </a:solidFill>
                <a:latin typeface="Arial"/>
              </a:rPr>
              <a:t>META ADS · FESTIVAL INTERLAGOS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  <a:latin typeface="Calibri"/>
              </a:rPr>
              <a:t>Análise dos últimos 10 dias  ·  2026-05-12 a 2026-05-22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2 contas: Principal (act_2044706169171045) + Nova Motos (act_1326431289216611)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Gerado em 22/05/2026 18:02 · Festival Interlagos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10 GERAL · MAIS COMPRAS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Últimos 10 dias · 2 contas Meta Ads · ordenado por compras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R$ 2.229,61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R$ 55,74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VENDAS ABERTAS - COMPRE SEU INGRESSO 🎟️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R$ 1.639,90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 (4 adsets)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R$ 817,39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R$ 34,06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DOMINE AS CURVAS (2 adsets)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R$ 454,55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R$ 22,73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GUIA EDIÇÃO MOTO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R$ 710,78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R$ 37,41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Thiaguinho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R$ 1.055,43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R$ 58,64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R$ 1.272,08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R$ 79,50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2.21%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[AD2]HUNGRIA (2 adsets)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R$ 735,85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R$ 49,06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1.13%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 (2 adsets)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R$ 932,37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R$ 66,60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1.54%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BANNER AUTO GERAL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5DAEFF"/>
                </a:solidFill>
                <a:latin typeface="Calibri"/>
              </a:rPr>
              <a:t>Nova Motos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R$ 323,58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R$ 23,11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1.96%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JARULE (2 adsets)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VENDAS ABERTAS - COMPRE SEU INGRESSO 🎟️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1384153036178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R$ 2.229,61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R$ 55,74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247.532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[40 compras]  [LM] [14.04.26] Semelhante (BR, 2%) - [LM] [VENDAS ATÉ O MOM  ·  [LM] [SP] [FESTIVAL INTERLAGOS] [GERAL] [LKL] [14.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4 adsets · Compras somadas de TODAS as instâncias</a:t>
            </a:r>
          </a:p>
        </p:txBody>
      </p:sp>
      <p:pic>
        <p:nvPicPr>
          <p:cNvPr id="5" name="Picture 4" descr="16296479514713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R$ 1.639,90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R$ 56,55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144.080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[15 compras]  [LM] [STREETPASS 108] LKL+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[STREETPASS 108] INTERESSES + EXCLU v2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88736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4 adset(s)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DOMINE AS CURVAS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14562462557668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R$ 817,39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R$ 34,06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0.74%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75.994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[13 compras]  [LM] [DARK] [ABERTO]  ·  .[]LM] [MOTO] [VENDAS EXPERIÊNCIA] [08.05.26]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[DARK] [ABERTO] — Cópia  ·  .[]LM] [MOTO] [VENDAS EXPERIÊNCIA] [08.05.26]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GUIA EDIÇÃO MOTO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7729289807821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R$ 454,55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R$ 22,73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1.22%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43.503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[20 compras]  [LM] [FEED] [DARK]  ·  .[]LM] [MOTO] [VENDAS EXPERIÊNCIA] [08.05.26]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Thiaguinho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4870621829936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R$ 710,78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R$ 37,41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1.59%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73.615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1.169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[19 compras]  [LM] ABERTO [PAGODE E SERTANEJO]  ·  [CBO] [SHOWS] [FESTIVAL INTERLAGOS MOTO]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660951058140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R$ 1.055,43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113.352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1.511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[18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[AD2]HUNGRIA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20977229011591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R$ 1.272,08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R$ 79,50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2.21%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185.008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4.096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[16 compras]  [LM] [FEEDS] [09.05] RAP  ·  [CBO] [MUSICA] [FESTIVAL 2026] [09.05]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[FEEDS] [09.05] RAP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796413840016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R$ 735,85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R$ 49,06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1.13%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72.187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BANNER AUTO GERAL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78202642875626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R$ 932,37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R$ 66,60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1.54%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67.649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1.042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[14 compras]  [LM] [04.04] [VELOCIDADE AUTO] AUTO  ·  [LM] [04.04] [VENDAS AUTO NOVA] [FESTIVAL INTERLAG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JARULE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9700891120986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R$ 323,58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R$ 23,11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1.96%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28.577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ABERTO [RAP] — Cópia  ·  [ABO] [SHOWS] [MOTOS] [15.05.26]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ABERTO [RAP]  ·  [CBO] [SHOWS] [FESTIVAL INTERLAGOS MOTO]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Nova Motos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 Black"/>
              </a:rPr>
              <a:t>TOP REMARKETING · CONTA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C8FF00"/>
                </a:solidFill>
                <a:latin typeface="Calibri"/>
              </a:rPr>
              <a:t>Campanha [LM] [RMKT] [FESTIVAL INTERLAGOS] [17.04.2026]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657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645920"/>
            <a:ext cx="82296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Compras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0972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Gasto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10058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645920"/>
            <a:ext cx="64008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CTR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6949440" cy="41148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100" b="1">
                <a:solidFill>
                  <a:srgbClr val="0A0A0A"/>
                </a:solidFill>
                <a:latin typeface="Arial"/>
              </a:rPr>
              <a:t>Anúncio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21031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1031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R$ 1.639,90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1031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1031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[AD] STREET 108 (4 adsets)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603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5603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R$ 1.055,43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5603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R$ 58,64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5603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1.33%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603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O QUE ACONTECE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175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0175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R$ 735,85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30175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R$ 49,06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175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1.13%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0175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D2 (2 adsets)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747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4747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34747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R$ 757,39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4747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R$ 63,12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4747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4747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POST INGRESSOS INFORMATIVO (2 adsets)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319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9319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319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R$ 980,05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39319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R$ 81,67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9319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1.44%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9319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segundo lote (3 adsets)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43891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R$ 815,24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43891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R$ 74,11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3891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43891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[AD2]matheus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463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48463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8463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R$ 638,94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48463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R$ 58,09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48463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2.86%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48463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VIRADA DE LOTE JARULE (2 adsets)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035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20240" y="53035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0" y="53035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R$ 379,23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3035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R$ 54,18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53035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1.78%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0" y="53035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[AD2] pista premium (3 adsets)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760720"/>
            <a:ext cx="3657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760720"/>
            <a:ext cx="82296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0" y="5760720"/>
            <a:ext cx="10972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R$ 113,81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0" y="5760720"/>
            <a:ext cx="10058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R$ 56,91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5760720"/>
            <a:ext cx="64008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1.28%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0" y="5760720"/>
            <a:ext cx="6949440" cy="457200"/>
          </a:xfrm>
          <a:prstGeom prst="rect">
            <a:avLst/>
          </a:prstGeom>
          <a:solidFill>
            <a:srgbClr val="121212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medina (2 adsets)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217920"/>
            <a:ext cx="3657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AAAAAA"/>
                </a:solidFill>
                <a:latin typeface="Calibri"/>
              </a:rPr>
              <a:t>Principal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920240" y="6217920"/>
            <a:ext cx="82296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b="1" sz="1000">
                <a:solidFill>
                  <a:srgbClr val="C8FF00"/>
                </a:solidFill>
                <a:latin typeface="Calibr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6217920"/>
            <a:ext cx="10972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R$ 10,61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840480" y="6217920"/>
            <a:ext cx="10058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4DFF91"/>
                </a:solidFill>
                <a:latin typeface="Calibri"/>
              </a:rPr>
              <a:t>R$ 10,61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6217920"/>
            <a:ext cx="64008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0.7%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6217920"/>
            <a:ext cx="6949440" cy="457200"/>
          </a:xfrm>
          <a:prstGeom prst="rect">
            <a:avLst/>
          </a:prstGeom>
          <a:solidFill>
            <a:srgbClr val="181818"/>
          </a:solidFill>
          <a:ln w="63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/>
          <a:lstStyle/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[AD1] medina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[AD] STREET 108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4 adsets · Compras somadas de TODAS as instâncias</a:t>
            </a:r>
          </a:p>
        </p:txBody>
      </p:sp>
      <p:pic>
        <p:nvPicPr>
          <p:cNvPr id="5" name="Picture 4" descr="16296479514713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R$ 1.639,90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R$ 56,55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144.080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[15 compras]  [LM] [STREETPASS 108] LKL+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[STREETPASS 108] INTERESSES + EXCLU v2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[4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88736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4 adset(s)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#2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O QUE ACONTECE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16609510581401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R$ 1.055,43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1.33%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113.352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1.511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[18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#3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796413840016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R$ 735,85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R$ 49,06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1.13%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72.187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#4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POST INGRESSOS INFORMATIVO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1299787968179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R$ 757,39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R$ 63,12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1.42%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81.578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[12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#5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segundo lote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3 adsets · Compras somadas de TODAS as instâncias</a:t>
            </a:r>
          </a:p>
        </p:txBody>
      </p:sp>
      <p:pic>
        <p:nvPicPr>
          <p:cNvPr id="5" name="Picture 4" descr="22777541794225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R$ 980,05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R$ 81,67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1.44%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96.208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1.383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[9 compras]  [LM] [2 LOTE] [09.05]ABERTO + EXCLU v3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[2 LOTE] [09.05] Semelhante (3%) - [LM] VISITARAM PERFI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[2 LOTE] [09.05]INTERESSES + EXCLU v2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3 adset(s)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#6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[AD2]matheus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21896173885301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R$ 815,24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R$ 74,11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108.436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1.947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[11 compras]  [LM] [FEEDS] [09.05] SERTANEJO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#7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VIRADA DE LOTE JARULE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20879400854811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R$ 638,94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R$ 58,09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2.86%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57.922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1.657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[8 compras]  [LM] [13.05.26] [SEGUNDO LOTE JARULE] INTERESSES 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[3 compras]  [LM] [13.05.26] [VIRADO DE LOTE JARULE] [SEGUNDO LOTE] ABERT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#8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[AD2] pista 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3 adsets · Compras somadas de TODAS as instâncias</a:t>
            </a:r>
          </a:p>
        </p:txBody>
      </p:sp>
      <p:pic>
        <p:nvPicPr>
          <p:cNvPr id="5" name="Picture 4" descr="24454084026294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R$ 379,23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R$ 54,18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1.78%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29.533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525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[6 compras]  [LM] [STREETPASS 108] INTERESSES + EXCLU v2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[STREETPASS 108] INTERESSES + EXCLU v2 — Cópia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78424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[0 compras]  [LM] [STREETPASS 108] INTERESSES + EXCLU v2 — Cópia  ·  [LM] [RMKT] [FESTIVAL INTERLAGOS] [17.04.2026]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3 adset(s)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#9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medina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2 adsets · Compras somadas de TODAS as instâncias</a:t>
            </a:r>
          </a:p>
        </p:txBody>
      </p:sp>
      <p:pic>
        <p:nvPicPr>
          <p:cNvPr id="5" name="Picture 4" descr="958955323781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R$ 113,81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R$ 56,91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1.28%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9.977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POSTS] INTERESSES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68112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 D2] [ROAS]ABERTO AUTO + EXCLU  ·  [LM] [RMKT] [FESTIVAL INTERLAGOS] [17.04.2026]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2 adset(s)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2103120" cy="365760"/>
          </a:xfrm>
          <a:prstGeom prst="rect">
            <a:avLst/>
          </a:prstGeom>
          <a:solidFill>
            <a:srgbClr val="C8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A0A0A"/>
                </a:solidFill>
                <a:latin typeface="Arial Black"/>
              </a:rPr>
              <a:t>#10 de 10 · TOP RMKT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 Black"/>
              </a:rPr>
              <a:t>[AD1] medina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8FF00"/>
                </a:solidFill>
                <a:latin typeface="Calibri"/>
              </a:rPr>
              <a:t>Rodou em 1 adset · Compras somadas de TODAS as instâncias</a:t>
            </a:r>
          </a:p>
        </p:txBody>
      </p:sp>
      <p:pic>
        <p:nvPicPr>
          <p:cNvPr id="5" name="Picture 4" descr="958955323781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COMPRAS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8FF00"/>
                </a:solidFill>
                <a:latin typeface="Arial Black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1828800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9328" y="1901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GASTO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21488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R$ 10,61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4DFF91"/>
                </a:solidFill>
                <a:latin typeface="Arial Black"/>
              </a:rPr>
              <a:t>R$ 10,61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9328" y="2852928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926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3172968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5DAEFF"/>
                </a:solidFill>
                <a:latin typeface="Arial Black"/>
              </a:rPr>
              <a:t>0.7%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IMPRESSÕES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1.004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8" y="3877056"/>
            <a:ext cx="3657600" cy="914400"/>
          </a:xfrm>
          <a:prstGeom prst="rect">
            <a:avLst/>
          </a:prstGeom>
          <a:solidFill>
            <a:srgbClr val="16161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39502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  <a:latin typeface="Arial"/>
              </a:rPr>
              <a:t>CLIQUES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4197096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C8FF00"/>
                </a:solidFill>
                <a:latin typeface="Arial"/>
              </a:rPr>
              <a:t>📊 ONDE ESTE CRIATIVO RODOU (top adsets por compra)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1115568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• [1 compras]  [LM] [NOVOS POSTS] ABERTO + EXCLU  ·  [LM] [RMKT] [FESTIVAL INTERLAGOS] [17.04.2026]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Calibri"/>
              </a:rPr>
              <a:t>📁 Conta: Principal  ·  1 adset(s)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8FF00"/>
                </a:solidFill>
                <a:latin typeface="Arial"/>
                <a:hlinkClick r:id="rId3"/>
              </a:rPr>
              <a:t>🔗 Ver este criativo na Biblioteca de Anúncios do Meta (público)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C8FF00"/>
                </a:solidFill>
                <a:latin typeface="Arial Black"/>
              </a:rPr>
              <a:t>INSIGHTS &amp;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801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#1 GERAL é "VENDAS ABERTAS"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40 compras (2× mais que o segundo). Mantenha rodando — criativo evergreen.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1408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2140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Melhor CPP da janela: GUIA EDIÇÃO MOTO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4144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R$ 22,61 por compra (Conta Nova Motos). 3× mais barato que a média. Vale escalar.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62656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6265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Conta Nova Motos é 2,9× mais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826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CPP médio R$ 31 vs R$ 65 da Principal. Avaliar migrar mais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03904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0390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4 dos 10 melhores são REMARKETING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2394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A campanha [RMKT] domina pos #4, #6, #9, #10. Quem visita o site engaja.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45152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4515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Maior CTR (2,93%): "VIRADA DE LOTE JARULE"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6519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Combinar headliner + urgência de virada de lote é a fórmula campeã.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8640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8FF00"/>
                </a:solidFill>
                <a:latin typeface="Calibri"/>
              </a:rP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864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Black"/>
              </a:rPr>
              <a:t>STREET 108 e D2 aparecem 2× 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80644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Calibri"/>
              </a:rPr>
              <a:t>Criativos robustos em múltiplos adsets — replicar pattern em outros temas.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