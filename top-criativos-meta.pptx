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hyperlink" Target="https://business.facebook.com/adsmanager/manage/ads/edit?act=2044706169171045&amp;selected_ad_ids=120248322094550360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hyperlink" Target="https://business.facebook.com/adsmanager/manage/ads/edit?act=1326431289216611&amp;selected_ad_ids=120241874260890605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hyperlink" Target="https://business.facebook.com/adsmanager/manage/ads/edit?act=1326431289216611&amp;selected_ad_ids=120241881454870605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hyperlink" Target="https://business.facebook.com/adsmanager/manage/ads/edit?act=2044706169171045&amp;selected_ad_ids=120249315144420360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hyperlink" Target="https://business.facebook.com/adsmanager/manage/ads/edit?act=2044706169171045&amp;selected_ad_ids=120249843060340360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hyperlink" Target="https://business.facebook.com/adsmanager/manage/ads/edit?act=2044706169171045&amp;selected_ad_ids=120249579076100360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hyperlink" Target="https://business.facebook.com/adsmanager/manage/ads/edit?act=2044706169171045&amp;selected_ad_ids=120247782320460360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hyperlink" Target="https://business.facebook.com/adsmanager/manage/ads/edit?act=1326431289216611&amp;selected_ad_ids=120241874227720605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hyperlink" Target="https://business.facebook.com/adsmanager/manage/ads/edit?act=2044706169171045&amp;selected_ad_ids=120249304310430360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hyperlink" Target="https://business.facebook.com/adsmanager/manage/ads/edit?act=2044706169171045&amp;selected_ad_ids=120249843465510360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hyperlink" Target="https://business.facebook.com/adsmanager/manage/ads/edit?act=2044706169171045&amp;selected_ad_ids=120249315144420360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hyperlink" Target="https://business.facebook.com/adsmanager/manage/ads/edit?act=2044706169171045&amp;selected_ad_ids=120249579076100360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hyperlink" Target="https://business.facebook.com/adsmanager/manage/ads/edit?act=2044706169171045&amp;selected_ad_ids=120249304310430360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hyperlink" Target="https://business.facebook.com/adsmanager/manage/ads/edit?act=2044706169171045&amp;selected_ad_ids=120249843465510360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hyperlink" Target="https://business.facebook.com/adsmanager/manage/ads/edit?act=2044706169171045&amp;selected_ad_ids=120249573386050360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hyperlink" Target="https://business.facebook.com/adsmanager/manage/ads/edit?act=2044706169171045&amp;selected_ad_ids=120249578835240360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business.facebook.com/adsmanager/manage/ads/edit?act=2044706169171045&amp;selected_ad_ids=120249839948910360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hyperlink" Target="https://business.facebook.com/adsmanager/manage/ads/edit?act=2044706169171045&amp;selected_ad_ids=120250124650190360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hyperlink" Target="https://business.facebook.com/adsmanager/manage/ads/edit?act=2044706169171045&amp;selected_ad_ids=120249578835250360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hyperlink" Target="https://business.facebook.com/adsmanager/manage/ads/edit?act=2044706169171045&amp;selected_ad_ids=120250117982320360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C8FF00"/>
                </a:solidFill>
                <a:latin typeface="Arial Black"/>
              </a:rPr>
              <a:t>LIME · AGÊNCIA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097280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6800" b="1">
                <a:solidFill>
                  <a:srgbClr val="FFFFFF"/>
                </a:solidFill>
                <a:latin typeface="Arial Black"/>
              </a:rPr>
              <a:t>TOP CRIATIVOS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C8FF00"/>
                </a:solidFill>
                <a:latin typeface="Arial"/>
              </a:rPr>
              <a:t>META ADS · FESTIVAL INTERLAGOS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AAAAAA"/>
                </a:solidFill>
                <a:latin typeface="Calibri"/>
              </a:rPr>
              <a:t>Análise dos últimos 10 dias  ·  2026-05-12 a 2026-05-22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Calibri"/>
              </a:rPr>
              <a:t>2 contas: Principal (act_2044706169171045) + Nova Motos (act_1326431289216611)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Gerado em 22/05/2026 17:27 · Festival Interlagos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 Black"/>
              </a:rPr>
              <a:t>TOP 10 GERAL · MAIS COMPRAS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C8FF00"/>
                </a:solidFill>
                <a:latin typeface="Calibri"/>
              </a:rPr>
              <a:t>Últimos 10 dias · 2 contas Meta Ads · ordenado por compras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6576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645920"/>
            <a:ext cx="100584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Conta</a:t>
            </a:r>
          </a:p>
        </p:txBody>
      </p:sp>
      <p:sp>
        <p:nvSpPr>
          <p:cNvPr id="6" name="Rectangle 5"/>
          <p:cNvSpPr/>
          <p:nvPr/>
        </p:nvSpPr>
        <p:spPr>
          <a:xfrm>
            <a:off x="1920240" y="1645920"/>
            <a:ext cx="82296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Compras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1645920"/>
            <a:ext cx="109728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Gasto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1645920"/>
            <a:ext cx="100584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CPP</a:t>
            </a:r>
          </a:p>
        </p:txBody>
      </p:sp>
      <p:sp>
        <p:nvSpPr>
          <p:cNvPr id="9" name="Rectangle 8"/>
          <p:cNvSpPr/>
          <p:nvPr/>
        </p:nvSpPr>
        <p:spPr>
          <a:xfrm>
            <a:off x="4846320" y="1645920"/>
            <a:ext cx="64008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CTR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1645920"/>
            <a:ext cx="694944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Anúncio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103120"/>
            <a:ext cx="3657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1031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2103120"/>
            <a:ext cx="8229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40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0" y="2103120"/>
            <a:ext cx="10972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R$ 2.195,89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21031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R$ 54,90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0" y="2103120"/>
            <a:ext cx="6400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0.8%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2103120"/>
            <a:ext cx="69494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VENDAS ABERTAS - COMPRE SEU INGRESSO 🎟️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560320"/>
            <a:ext cx="3657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25603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5DAEFF"/>
                </a:solidFill>
                <a:latin typeface="Calibri"/>
              </a:rPr>
              <a:t>Nova Motos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20240" y="2560320"/>
            <a:ext cx="8229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0" y="2560320"/>
            <a:ext cx="10972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R$ 452,16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0" y="25603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R$ 22,61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46320" y="2560320"/>
            <a:ext cx="6400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1.22%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0" y="2560320"/>
            <a:ext cx="69494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[AD1] GUIA EDIÇÃO MOTO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017520"/>
            <a:ext cx="3657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30175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5DAEFF"/>
                </a:solidFill>
                <a:latin typeface="Calibri"/>
              </a:rPr>
              <a:t>Nova Motos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20240" y="3017520"/>
            <a:ext cx="8229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0" y="3017520"/>
            <a:ext cx="10972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R$ 710,78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40480" y="30175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R$ 37,41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017520"/>
            <a:ext cx="6400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1.59%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0" y="3017520"/>
            <a:ext cx="69494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[AD1] Thiaguinho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474720"/>
            <a:ext cx="3657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4400" y="34747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20240" y="3474720"/>
            <a:ext cx="8229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0" y="3474720"/>
            <a:ext cx="10972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R$ 1.040,38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40480" y="34747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R$ 61,20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846320" y="3474720"/>
            <a:ext cx="6400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1.34%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0" y="3474720"/>
            <a:ext cx="69494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[AD2] O QUE ACONTECE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3931920"/>
            <a:ext cx="3657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39319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920240" y="3931920"/>
            <a:ext cx="8229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0" y="3931920"/>
            <a:ext cx="10972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R$ 1.233,73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840480" y="39319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R$ 77,11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846320" y="3931920"/>
            <a:ext cx="6400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2.21%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0" y="3931920"/>
            <a:ext cx="69494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[AD2]HUNGRIA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4389120"/>
            <a:ext cx="3657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4400" y="43891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920240" y="4389120"/>
            <a:ext cx="8229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0" y="4389120"/>
            <a:ext cx="10972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R$ 844,38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40480" y="43891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R$ 56,29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846320" y="4389120"/>
            <a:ext cx="6400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1.35%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0" y="4389120"/>
            <a:ext cx="69494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[AD] STREET 108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4846320"/>
            <a:ext cx="3657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4400" y="48463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920240" y="4846320"/>
            <a:ext cx="8229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0" y="4846320"/>
            <a:ext cx="10972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R$ 919,43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840480" y="48463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R$ 65,67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846320" y="4846320"/>
            <a:ext cx="6400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1.55%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86400" y="4846320"/>
            <a:ext cx="69494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[AD1] BANNER AUTO GERAL 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40" y="5303520"/>
            <a:ext cx="3657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4400" y="53035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5DAEFF"/>
                </a:solidFill>
                <a:latin typeface="Calibri"/>
              </a:rPr>
              <a:t>Nova Motos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920240" y="5303520"/>
            <a:ext cx="8229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0" y="5303520"/>
            <a:ext cx="10972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R$ 450,23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840480" y="53035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R$ 34,63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846320" y="5303520"/>
            <a:ext cx="6400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0.79%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86400" y="5303520"/>
            <a:ext cx="69494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[AD1] DOMINE AS CURVAS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8640" y="5760720"/>
            <a:ext cx="3657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14400" y="57607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920240" y="5760720"/>
            <a:ext cx="8229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3200" y="5760720"/>
            <a:ext cx="10972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R$ 724,36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840480" y="57607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R$ 60,36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846320" y="5760720"/>
            <a:ext cx="6400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1.4%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486400" y="5760720"/>
            <a:ext cx="69494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[AD2] POST INGRESSOS INFORMATIVO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8640" y="6217920"/>
            <a:ext cx="3657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14400" y="62179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920240" y="6217920"/>
            <a:ext cx="8229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11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743200" y="6217920"/>
            <a:ext cx="10972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R$ 802,17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840480" y="62179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R$ 72,92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846320" y="6217920"/>
            <a:ext cx="6400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1.81%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400" y="6217920"/>
            <a:ext cx="69494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[AD2]matheus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#1 de 10 · TOP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 Black"/>
              </a:rPr>
              <a:t>VENDAS ABERTAS - COMPRE SEU INGRESSO 🎟️</a:t>
            </a:r>
          </a:p>
        </p:txBody>
      </p:sp>
      <p:pic>
        <p:nvPicPr>
          <p:cNvPr id="4" name="Picture 3" descr="1202483220945503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4114800" cy="411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120640" y="182880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20640" y="192024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219456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C8FF00"/>
                </a:solidFill>
                <a:latin typeface="Arial Black"/>
              </a:rPr>
              <a:t>40</a:t>
            </a:r>
          </a:p>
        </p:txBody>
      </p:sp>
      <p:sp>
        <p:nvSpPr>
          <p:cNvPr id="8" name="Rectangle 7"/>
          <p:cNvSpPr/>
          <p:nvPr/>
        </p:nvSpPr>
        <p:spPr>
          <a:xfrm>
            <a:off x="8641080" y="182880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192024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219456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R$ 2.195,89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306324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315468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342900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4DFF91"/>
                </a:solidFill>
                <a:latin typeface="Arial Black"/>
              </a:rPr>
              <a:t>R$ 54,90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41080" y="306324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1080" y="315468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342900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5DAEFF"/>
                </a:solidFill>
                <a:latin typeface="Arial Black"/>
              </a:rPr>
              <a:t>0.8%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429768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43891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466344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243.664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41080" y="429768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41080" y="43891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466344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1.955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6080760"/>
            <a:ext cx="6583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Adset: [LM] [14.04.26] Semelhante (BR, 2%) - [LM] [VENDAS ATÉ O MOM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6309360"/>
            <a:ext cx="6583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🎯 Campanha: [LM] [SP] [FESTIVAL INTERLAGOS] [GERAL] [LKL] [14.04.2026]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6583680"/>
            <a:ext cx="6583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FF00"/>
                </a:solidFill>
                <a:latin typeface="Arial"/>
                <a:hlinkClick r:id="rId3"/>
              </a:rPr>
              <a:t>🔗 Abrir no Meta Ads Manager 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#2 de 10 · TOP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 Black"/>
              </a:rPr>
              <a:t>[AD1] GUIA EDIÇÃO MOTO</a:t>
            </a:r>
          </a:p>
        </p:txBody>
      </p:sp>
      <p:pic>
        <p:nvPicPr>
          <p:cNvPr id="4" name="Picture 3" descr="1202418742608906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4114800" cy="411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120640" y="182880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20640" y="192024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219456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C8FF00"/>
                </a:solidFill>
                <a:latin typeface="Arial Black"/>
              </a:rPr>
              <a:t>20</a:t>
            </a:r>
          </a:p>
        </p:txBody>
      </p:sp>
      <p:sp>
        <p:nvSpPr>
          <p:cNvPr id="8" name="Rectangle 7"/>
          <p:cNvSpPr/>
          <p:nvPr/>
        </p:nvSpPr>
        <p:spPr>
          <a:xfrm>
            <a:off x="8641080" y="182880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192024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219456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R$ 452,16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306324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315468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342900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4DFF91"/>
                </a:solidFill>
                <a:latin typeface="Arial Black"/>
              </a:rPr>
              <a:t>R$ 22,61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41080" y="306324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1080" y="315468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342900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5DAEFF"/>
                </a:solidFill>
                <a:latin typeface="Arial Black"/>
              </a:rPr>
              <a:t>1.22%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429768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43891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466344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43.244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41080" y="429768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41080" y="43891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466344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529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6080760"/>
            <a:ext cx="6583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Nova Motos  ·  Adset: [LM] [FEED] [DARK]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6309360"/>
            <a:ext cx="6583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🎯 Campanha: .[]LM] [MOTO] [VENDAS EXPERIÊNCIA] [08.05.26]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6583680"/>
            <a:ext cx="6583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FF00"/>
                </a:solidFill>
                <a:latin typeface="Arial"/>
                <a:hlinkClick r:id="rId3"/>
              </a:rPr>
              <a:t>🔗 Abrir no Meta Ads Manager →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#3 de 10 · TOP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 Black"/>
              </a:rPr>
              <a:t>[AD1] Thiaguinho</a:t>
            </a:r>
          </a:p>
        </p:txBody>
      </p:sp>
      <p:pic>
        <p:nvPicPr>
          <p:cNvPr id="4" name="Picture 3" descr="1202418814548706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4114800" cy="411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120640" y="182880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20640" y="192024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219456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C8FF00"/>
                </a:solidFill>
                <a:latin typeface="Arial Black"/>
              </a:rPr>
              <a:t>19</a:t>
            </a:r>
          </a:p>
        </p:txBody>
      </p:sp>
      <p:sp>
        <p:nvSpPr>
          <p:cNvPr id="8" name="Rectangle 7"/>
          <p:cNvSpPr/>
          <p:nvPr/>
        </p:nvSpPr>
        <p:spPr>
          <a:xfrm>
            <a:off x="8641080" y="182880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192024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219456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R$ 710,78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306324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315468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342900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4DFF91"/>
                </a:solidFill>
                <a:latin typeface="Arial Black"/>
              </a:rPr>
              <a:t>R$ 37,41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41080" y="306324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1080" y="315468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342900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5DAEFF"/>
                </a:solidFill>
                <a:latin typeface="Arial Black"/>
              </a:rPr>
              <a:t>1.59%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429768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43891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466344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73.615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41080" y="429768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41080" y="43891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466344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1.169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6080760"/>
            <a:ext cx="6583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Nova Motos  ·  Adset: [LM] ABERTO [PAGODE E SERTANEJO]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6309360"/>
            <a:ext cx="6583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🎯 Campanha: [CBO] [SHOWS] [FESTIVAL INTERLAGOS MOTO]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6583680"/>
            <a:ext cx="6583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FF00"/>
                </a:solidFill>
                <a:latin typeface="Arial"/>
                <a:hlinkClick r:id="rId3"/>
              </a:rPr>
              <a:t>🔗 Abrir no Meta Ads Manager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#4 de 10 · TOP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 Black"/>
              </a:rPr>
              <a:t>[AD2] O QUE ACONTECE</a:t>
            </a:r>
          </a:p>
        </p:txBody>
      </p:sp>
      <p:pic>
        <p:nvPicPr>
          <p:cNvPr id="4" name="Picture 3" descr="1202493151444203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4114800" cy="411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120640" y="182880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20640" y="192024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219456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C8FF00"/>
                </a:solidFill>
                <a:latin typeface="Arial Black"/>
              </a:rPr>
              <a:t>17</a:t>
            </a:r>
          </a:p>
        </p:txBody>
      </p:sp>
      <p:sp>
        <p:nvSpPr>
          <p:cNvPr id="8" name="Rectangle 7"/>
          <p:cNvSpPr/>
          <p:nvPr/>
        </p:nvSpPr>
        <p:spPr>
          <a:xfrm>
            <a:off x="8641080" y="182880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192024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219456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R$ 1.040,38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306324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315468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342900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4DFF91"/>
                </a:solidFill>
                <a:latin typeface="Arial Black"/>
              </a:rPr>
              <a:t>R$ 61,20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41080" y="306324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1080" y="315468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342900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5DAEFF"/>
                </a:solidFill>
                <a:latin typeface="Arial Black"/>
              </a:rPr>
              <a:t>1.34%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429768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43891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466344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111.337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41080" y="429768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41080" y="43891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466344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1.494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6080760"/>
            <a:ext cx="6583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Adset: [LM] [NOVOS POSTS] ABERTO + EXCLU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6309360"/>
            <a:ext cx="6583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🎯 Campanha: [LM] [RMKT] [FESTIVAL INTERLAGOS] [17.04.2026]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6583680"/>
            <a:ext cx="6583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FF00"/>
                </a:solidFill>
                <a:latin typeface="Arial"/>
                <a:hlinkClick r:id="rId3"/>
              </a:rPr>
              <a:t>🔗 Abrir no Meta Ads Manager →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#5 de 10 · TOP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 Black"/>
              </a:rPr>
              <a:t>[AD2]HUNGRIA</a:t>
            </a:r>
          </a:p>
        </p:txBody>
      </p:sp>
      <p:pic>
        <p:nvPicPr>
          <p:cNvPr id="4" name="Picture 3" descr="1202498430603403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4114800" cy="411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120640" y="182880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20640" y="192024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219456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C8FF00"/>
                </a:solidFill>
                <a:latin typeface="Arial Black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8641080" y="182880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192024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219456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R$ 1.233,73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306324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315468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342900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4DFF91"/>
                </a:solidFill>
                <a:latin typeface="Arial Black"/>
              </a:rPr>
              <a:t>R$ 77,11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41080" y="306324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1080" y="315468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342900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5DAEFF"/>
                </a:solidFill>
                <a:latin typeface="Arial Black"/>
              </a:rPr>
              <a:t>2.21%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429768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43891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466344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179.412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41080" y="429768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41080" y="43891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466344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3.972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6080760"/>
            <a:ext cx="6583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Adset: [LM] [FEEDS] [09.05] RAP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6309360"/>
            <a:ext cx="6583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🎯 Campanha: [CBO] [MUSICA] [FESTIVAL 2026] [09.05]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6583680"/>
            <a:ext cx="6583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FF00"/>
                </a:solidFill>
                <a:latin typeface="Arial"/>
                <a:hlinkClick r:id="rId3"/>
              </a:rPr>
              <a:t>🔗 Abrir no Meta Ads Manager →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#6 de 10 · TOP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 Black"/>
              </a:rPr>
              <a:t>[AD] STREET 108</a:t>
            </a:r>
          </a:p>
        </p:txBody>
      </p:sp>
      <p:pic>
        <p:nvPicPr>
          <p:cNvPr id="4" name="Picture 3" descr="1202495790761003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4114800" cy="411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120640" y="182880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20640" y="192024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219456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C8FF00"/>
                </a:solidFill>
                <a:latin typeface="Arial Black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8641080" y="182880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192024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219456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R$ 844,38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306324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315468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342900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4DFF91"/>
                </a:solidFill>
                <a:latin typeface="Arial Black"/>
              </a:rPr>
              <a:t>R$ 56,29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41080" y="306324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1080" y="315468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342900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5DAEFF"/>
                </a:solidFill>
                <a:latin typeface="Arial Black"/>
              </a:rPr>
              <a:t>1.35%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429768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43891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466344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77.889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41080" y="429768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41080" y="43891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466344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1.050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6080760"/>
            <a:ext cx="6583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Adset: [LM] [STREETPASS 108] LKL+ EXCLU v2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6309360"/>
            <a:ext cx="6583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🎯 Campanha: [LM] [RMKT] [FESTIVAL INTERLAGOS] [17.04.2026]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6583680"/>
            <a:ext cx="6583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FF00"/>
                </a:solidFill>
                <a:latin typeface="Arial"/>
                <a:hlinkClick r:id="rId3"/>
              </a:rPr>
              <a:t>🔗 Abrir no Meta Ads Manager →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#7 de 10 · TOP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 Black"/>
              </a:rPr>
              <a:t>[AD1] BANNER AUTO GERAL 3</a:t>
            </a:r>
          </a:p>
        </p:txBody>
      </p:sp>
      <p:pic>
        <p:nvPicPr>
          <p:cNvPr id="4" name="Picture 3" descr="1202477823204603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4114800" cy="411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120640" y="182880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20640" y="192024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219456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C8FF00"/>
                </a:solidFill>
                <a:latin typeface="Arial Black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8641080" y="182880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192024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219456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R$ 919,43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306324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315468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342900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4DFF91"/>
                </a:solidFill>
                <a:latin typeface="Arial Black"/>
              </a:rPr>
              <a:t>R$ 65,67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41080" y="306324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1080" y="315468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342900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5DAEFF"/>
                </a:solidFill>
                <a:latin typeface="Arial Black"/>
              </a:rPr>
              <a:t>1.55%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429768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43891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466344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66.470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41080" y="429768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41080" y="43891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466344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1.029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6080760"/>
            <a:ext cx="6583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Adset: [LM] [04.04] [VELOCIDADE AUTO] AUTO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6309360"/>
            <a:ext cx="6583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🎯 Campanha: [LM] [04.04] [VENDAS AUTO NOVA] [FESTIVAL INTERLAGOS 2026]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6583680"/>
            <a:ext cx="6583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FF00"/>
                </a:solidFill>
                <a:latin typeface="Arial"/>
                <a:hlinkClick r:id="rId3"/>
              </a:rPr>
              <a:t>🔗 Abrir no Meta Ads Manager →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#8 de 10 · TOP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 Black"/>
              </a:rPr>
              <a:t>[AD1] DOMINE AS CURVAS</a:t>
            </a:r>
          </a:p>
        </p:txBody>
      </p:sp>
      <p:pic>
        <p:nvPicPr>
          <p:cNvPr id="4" name="Picture 3" descr="1202418742277206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4114800" cy="411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120640" y="182880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20640" y="192024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219456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C8FF00"/>
                </a:solidFill>
                <a:latin typeface="Arial Black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8641080" y="182880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192024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219456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R$ 450,23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306324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315468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342900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4DFF91"/>
                </a:solidFill>
                <a:latin typeface="Arial Black"/>
              </a:rPr>
              <a:t>R$ 34,63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41080" y="306324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1080" y="315468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342900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5DAEFF"/>
                </a:solidFill>
                <a:latin typeface="Arial Black"/>
              </a:rPr>
              <a:t>0.79%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429768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43891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466344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43.900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41080" y="429768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41080" y="43891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466344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345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6080760"/>
            <a:ext cx="6583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Nova Motos  ·  Adset: [LM] [DARK] [ABERTO]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6309360"/>
            <a:ext cx="6583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🎯 Campanha: .[]LM] [MOTO] [VENDAS EXPERIÊNCIA] [08.05.26]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6583680"/>
            <a:ext cx="6583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FF00"/>
                </a:solidFill>
                <a:latin typeface="Arial"/>
                <a:hlinkClick r:id="rId3"/>
              </a:rPr>
              <a:t>🔗 Abrir no Meta Ads Manager →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#9 de 10 · TOP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 Black"/>
              </a:rPr>
              <a:t>[AD2] POST INGRESSOS INFORMATIVO</a:t>
            </a:r>
          </a:p>
        </p:txBody>
      </p:sp>
      <p:pic>
        <p:nvPicPr>
          <p:cNvPr id="4" name="Picture 3" descr="1202493043104303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4114800" cy="411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120640" y="182880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20640" y="192024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219456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C8FF00"/>
                </a:solidFill>
                <a:latin typeface="Arial Black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8641080" y="182880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192024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219456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R$ 724,36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306324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315468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342900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4DFF91"/>
                </a:solidFill>
                <a:latin typeface="Arial Black"/>
              </a:rPr>
              <a:t>R$ 60,36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41080" y="306324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1080" y="315468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342900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5DAEFF"/>
                </a:solidFill>
                <a:latin typeface="Arial Black"/>
              </a:rPr>
              <a:t>1.4%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429768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43891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466344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78.817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41080" y="429768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41080" y="43891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466344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1.104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6080760"/>
            <a:ext cx="6583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Adset: [LM] [NOVOS POSTS] INTERESSES + EXCLU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6309360"/>
            <a:ext cx="6583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🎯 Campanha: [LM] [RMKT] [FESTIVAL INTERLAGOS] [17.04.2026]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6583680"/>
            <a:ext cx="6583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FF00"/>
                </a:solidFill>
                <a:latin typeface="Arial"/>
                <a:hlinkClick r:id="rId3"/>
              </a:rPr>
              <a:t>🔗 Abrir no Meta Ads Manager →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#10 de 10 · TOP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 Black"/>
              </a:rPr>
              <a:t>[AD2]matheus</a:t>
            </a:r>
          </a:p>
        </p:txBody>
      </p:sp>
      <p:pic>
        <p:nvPicPr>
          <p:cNvPr id="4" name="Picture 3" descr="1202498434655103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4114800" cy="411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120640" y="182880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20640" y="192024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219456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C8FF00"/>
                </a:solidFill>
                <a:latin typeface="Arial Black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41080" y="182880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192024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219456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R$ 802,17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306324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315468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342900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4DFF91"/>
                </a:solidFill>
                <a:latin typeface="Arial Black"/>
              </a:rPr>
              <a:t>R$ 72,92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41080" y="306324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1080" y="315468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342900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5DAEFF"/>
                </a:solidFill>
                <a:latin typeface="Arial Black"/>
              </a:rPr>
              <a:t>1.81%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429768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43891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466344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106.687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41080" y="429768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41080" y="43891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466344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1.927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6080760"/>
            <a:ext cx="6583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Adset: [LM] [FEEDS] [09.05] SERTANEJO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6309360"/>
            <a:ext cx="6583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🎯 Campanha: [LM] [RMKT] [FESTIVAL INTERLAGOS] [17.04.2026]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6583680"/>
            <a:ext cx="6583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FF00"/>
                </a:solidFill>
                <a:latin typeface="Arial"/>
                <a:hlinkClick r:id="rId3"/>
              </a:rPr>
              <a:t>🔗 Abrir no Meta Ads Manager →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 Black"/>
              </a:rPr>
              <a:t>TOP REMARKETING · CONTA PRINCIPAL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C8FF00"/>
                </a:solidFill>
                <a:latin typeface="Calibri"/>
              </a:rPr>
              <a:t>Campanha [LM] [RMKT] [FESTIVAL INTERLAGOS] [17.04.2026]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6576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645920"/>
            <a:ext cx="100584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Conta</a:t>
            </a:r>
          </a:p>
        </p:txBody>
      </p:sp>
      <p:sp>
        <p:nvSpPr>
          <p:cNvPr id="6" name="Rectangle 5"/>
          <p:cNvSpPr/>
          <p:nvPr/>
        </p:nvSpPr>
        <p:spPr>
          <a:xfrm>
            <a:off x="1920240" y="1645920"/>
            <a:ext cx="82296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Compras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1645920"/>
            <a:ext cx="109728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Gasto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1645920"/>
            <a:ext cx="100584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CPP</a:t>
            </a:r>
          </a:p>
        </p:txBody>
      </p:sp>
      <p:sp>
        <p:nvSpPr>
          <p:cNvPr id="9" name="Rectangle 8"/>
          <p:cNvSpPr/>
          <p:nvPr/>
        </p:nvSpPr>
        <p:spPr>
          <a:xfrm>
            <a:off x="4846320" y="1645920"/>
            <a:ext cx="64008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CTR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1645920"/>
            <a:ext cx="694944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Anúncio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103120"/>
            <a:ext cx="3657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1031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2103120"/>
            <a:ext cx="8229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0" y="2103120"/>
            <a:ext cx="10972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R$ 1.040,38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21031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R$ 61,20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0" y="2103120"/>
            <a:ext cx="6400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1.34%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2103120"/>
            <a:ext cx="69494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[AD2] O QUE ACONTECE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560320"/>
            <a:ext cx="3657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25603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20240" y="2560320"/>
            <a:ext cx="8229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0" y="2560320"/>
            <a:ext cx="10972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R$ 844,38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0" y="25603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R$ 56,29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46320" y="2560320"/>
            <a:ext cx="6400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1.35%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0" y="2560320"/>
            <a:ext cx="69494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[AD] STREET 108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017520"/>
            <a:ext cx="3657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30175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20240" y="3017520"/>
            <a:ext cx="8229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0" y="3017520"/>
            <a:ext cx="10972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R$ 724,36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40480" y="30175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R$ 60,36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017520"/>
            <a:ext cx="6400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1.4%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0" y="3017520"/>
            <a:ext cx="69494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[AD2] POST INGRESSOS INFORMATIVO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474720"/>
            <a:ext cx="3657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4400" y="34747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20240" y="3474720"/>
            <a:ext cx="8229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0" y="3474720"/>
            <a:ext cx="10972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R$ 802,17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40480" y="34747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R$ 72,92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846320" y="3474720"/>
            <a:ext cx="6400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1.81%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0" y="3474720"/>
            <a:ext cx="69494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[AD2]matheus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3931920"/>
            <a:ext cx="3657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39319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920240" y="3931920"/>
            <a:ext cx="8229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0" y="3931920"/>
            <a:ext cx="10972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R$ 279,90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840480" y="39319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R$ 31,10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846320" y="3931920"/>
            <a:ext cx="6400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1.3%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0" y="3931920"/>
            <a:ext cx="69494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[AD2] D2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4389120"/>
            <a:ext cx="3657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4400" y="43891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920240" y="4389120"/>
            <a:ext cx="8229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9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0" y="4389120"/>
            <a:ext cx="10972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R$ 516,94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40480" y="43891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R$ 57,44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846320" y="4389120"/>
            <a:ext cx="6400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1.5%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0" y="4389120"/>
            <a:ext cx="69494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[AD] STREET 108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4846320"/>
            <a:ext cx="3657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4400" y="48463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920240" y="4846320"/>
            <a:ext cx="8229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0" y="4846320"/>
            <a:ext cx="10972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R$ 810,53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840480" y="48463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R$ 90,06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846320" y="4846320"/>
            <a:ext cx="6400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1.5%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86400" y="4846320"/>
            <a:ext cx="69494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[AD2] segundo lote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40" y="5303520"/>
            <a:ext cx="3657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4400" y="53035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920240" y="5303520"/>
            <a:ext cx="8229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8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0" y="5303520"/>
            <a:ext cx="10972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R$ 399,10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840480" y="53035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R$ 49,89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846320" y="5303520"/>
            <a:ext cx="6400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2.93%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86400" y="5303520"/>
            <a:ext cx="69494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[AD2] VIRADA DE LOTE JARULE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8640" y="5760720"/>
            <a:ext cx="3657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14400" y="57607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920240" y="5760720"/>
            <a:ext cx="8229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6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3200" y="5760720"/>
            <a:ext cx="10972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R$ 325,50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840480" y="57607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R$ 54,25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846320" y="5760720"/>
            <a:ext cx="6400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1.81%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486400" y="5760720"/>
            <a:ext cx="69494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[AD2] pista premium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8640" y="6217920"/>
            <a:ext cx="3657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14400" y="62179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920240" y="6217920"/>
            <a:ext cx="8229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6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743200" y="6217920"/>
            <a:ext cx="10972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R$ 448,10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840480" y="62179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R$ 74,68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846320" y="6217920"/>
            <a:ext cx="6400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1.04%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400" y="6217920"/>
            <a:ext cx="69494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[AD2] D2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#1 de 10 · TOP RMKT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 Black"/>
              </a:rPr>
              <a:t>[AD2] O QUE ACONTECE</a:t>
            </a:r>
          </a:p>
        </p:txBody>
      </p:sp>
      <p:pic>
        <p:nvPicPr>
          <p:cNvPr id="4" name="Picture 3" descr="1202493151444203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4114800" cy="411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120640" y="182880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20640" y="192024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219456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C8FF00"/>
                </a:solidFill>
                <a:latin typeface="Arial Black"/>
              </a:rPr>
              <a:t>17</a:t>
            </a:r>
          </a:p>
        </p:txBody>
      </p:sp>
      <p:sp>
        <p:nvSpPr>
          <p:cNvPr id="8" name="Rectangle 7"/>
          <p:cNvSpPr/>
          <p:nvPr/>
        </p:nvSpPr>
        <p:spPr>
          <a:xfrm>
            <a:off x="8641080" y="182880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192024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219456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R$ 1.040,38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306324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315468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342900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4DFF91"/>
                </a:solidFill>
                <a:latin typeface="Arial Black"/>
              </a:rPr>
              <a:t>R$ 61,20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41080" y="306324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1080" y="315468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342900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5DAEFF"/>
                </a:solidFill>
                <a:latin typeface="Arial Black"/>
              </a:rPr>
              <a:t>1.34%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429768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43891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466344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111.337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41080" y="429768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41080" y="43891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466344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1.494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6080760"/>
            <a:ext cx="6583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Adset: [LM] [NOVOS POSTS] ABERTO + EXCLU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6309360"/>
            <a:ext cx="6583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🎯 Campanha: [LM] [RMKT] [FESTIVAL INTERLAGOS] [17.04.2026]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6583680"/>
            <a:ext cx="6583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FF00"/>
                </a:solidFill>
                <a:latin typeface="Arial"/>
                <a:hlinkClick r:id="rId3"/>
              </a:rPr>
              <a:t>🔗 Abrir no Meta Ads Manager →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#2 de 10 · TOP RMKT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 Black"/>
              </a:rPr>
              <a:t>[AD] STREET 108</a:t>
            </a:r>
          </a:p>
        </p:txBody>
      </p:sp>
      <p:pic>
        <p:nvPicPr>
          <p:cNvPr id="4" name="Picture 3" descr="1202495790761003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4114800" cy="411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120640" y="182880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20640" y="192024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219456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C8FF00"/>
                </a:solidFill>
                <a:latin typeface="Arial Black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8641080" y="182880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192024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219456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R$ 844,38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306324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315468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342900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4DFF91"/>
                </a:solidFill>
                <a:latin typeface="Arial Black"/>
              </a:rPr>
              <a:t>R$ 56,29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41080" y="306324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1080" y="315468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342900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5DAEFF"/>
                </a:solidFill>
                <a:latin typeface="Arial Black"/>
              </a:rPr>
              <a:t>1.35%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429768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43891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466344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77.889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41080" y="429768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41080" y="43891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466344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1.050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6080760"/>
            <a:ext cx="6583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Adset: [LM] [STREETPASS 108] LKL+ EXCLU v2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6309360"/>
            <a:ext cx="6583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🎯 Campanha: [LM] [RMKT] [FESTIVAL INTERLAGOS] [17.04.2026]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6583680"/>
            <a:ext cx="6583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FF00"/>
                </a:solidFill>
                <a:latin typeface="Arial"/>
                <a:hlinkClick r:id="rId3"/>
              </a:rPr>
              <a:t>🔗 Abrir no Meta Ads Manager →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#3 de 10 · TOP RMKT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 Black"/>
              </a:rPr>
              <a:t>[AD2] POST INGRESSOS INFORMATIVO</a:t>
            </a:r>
          </a:p>
        </p:txBody>
      </p:sp>
      <p:pic>
        <p:nvPicPr>
          <p:cNvPr id="4" name="Picture 3" descr="1202493043104303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4114800" cy="411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120640" y="182880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20640" y="192024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219456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C8FF00"/>
                </a:solidFill>
                <a:latin typeface="Arial Black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8641080" y="182880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192024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219456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R$ 724,36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306324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315468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342900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4DFF91"/>
                </a:solidFill>
                <a:latin typeface="Arial Black"/>
              </a:rPr>
              <a:t>R$ 60,36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41080" y="306324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1080" y="315468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342900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5DAEFF"/>
                </a:solidFill>
                <a:latin typeface="Arial Black"/>
              </a:rPr>
              <a:t>1.4%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429768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43891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466344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78.817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41080" y="429768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41080" y="43891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466344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1.104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6080760"/>
            <a:ext cx="6583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Adset: [LM] [NOVOS POSTS] INTERESSES + EXCLU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6309360"/>
            <a:ext cx="6583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🎯 Campanha: [LM] [RMKT] [FESTIVAL INTERLAGOS] [17.04.2026]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6583680"/>
            <a:ext cx="6583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FF00"/>
                </a:solidFill>
                <a:latin typeface="Arial"/>
                <a:hlinkClick r:id="rId3"/>
              </a:rPr>
              <a:t>🔗 Abrir no Meta Ads Manager →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#4 de 10 · TOP RMKT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 Black"/>
              </a:rPr>
              <a:t>[AD2]matheus</a:t>
            </a:r>
          </a:p>
        </p:txBody>
      </p:sp>
      <p:pic>
        <p:nvPicPr>
          <p:cNvPr id="4" name="Picture 3" descr="1202498434655103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4114800" cy="411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120640" y="182880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20640" y="192024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219456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C8FF00"/>
                </a:solidFill>
                <a:latin typeface="Arial Black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41080" y="182880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192024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219456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R$ 802,17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306324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315468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342900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4DFF91"/>
                </a:solidFill>
                <a:latin typeface="Arial Black"/>
              </a:rPr>
              <a:t>R$ 72,92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41080" y="306324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1080" y="315468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342900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5DAEFF"/>
                </a:solidFill>
                <a:latin typeface="Arial Black"/>
              </a:rPr>
              <a:t>1.81%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429768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43891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466344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106.687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41080" y="429768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41080" y="43891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466344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1.927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6080760"/>
            <a:ext cx="6583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Adset: [LM] [FEEDS] [09.05] SERTANEJO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6309360"/>
            <a:ext cx="6583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🎯 Campanha: [LM] [RMKT] [FESTIVAL INTERLAGOS] [17.04.2026]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6583680"/>
            <a:ext cx="6583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FF00"/>
                </a:solidFill>
                <a:latin typeface="Arial"/>
                <a:hlinkClick r:id="rId3"/>
              </a:rPr>
              <a:t>🔗 Abrir no Meta Ads Manager →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#5 de 10 · TOP RMKT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 Black"/>
              </a:rPr>
              <a:t>[AD2] D2</a:t>
            </a:r>
          </a:p>
        </p:txBody>
      </p:sp>
      <p:pic>
        <p:nvPicPr>
          <p:cNvPr id="4" name="Picture 3" descr="1202495733860503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4114800" cy="411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120640" y="182880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20640" y="192024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219456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C8FF00"/>
                </a:solidFill>
                <a:latin typeface="Arial Black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8641080" y="182880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192024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219456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R$ 279,90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306324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315468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342900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4DFF91"/>
                </a:solidFill>
                <a:latin typeface="Arial Black"/>
              </a:rPr>
              <a:t>R$ 31,10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41080" y="306324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1080" y="315468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342900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5DAEFF"/>
                </a:solidFill>
                <a:latin typeface="Arial Black"/>
              </a:rPr>
              <a:t>1.3%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429768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43891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466344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26.690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41080" y="429768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41080" y="43891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466344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347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6080760"/>
            <a:ext cx="6583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Adset: [LM] [NOVOS POSTS] INTERESSES + EXCLU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6309360"/>
            <a:ext cx="6583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🎯 Campanha: [LM] [RMKT] [FESTIVAL INTERLAGOS] [17.04.2026]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6583680"/>
            <a:ext cx="6583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FF00"/>
                </a:solidFill>
                <a:latin typeface="Arial"/>
                <a:hlinkClick r:id="rId3"/>
              </a:rPr>
              <a:t>🔗 Abrir no Meta Ads Manager →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#6 de 10 · TOP RMKT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 Black"/>
              </a:rPr>
              <a:t>[AD] STREET 108</a:t>
            </a:r>
          </a:p>
        </p:txBody>
      </p:sp>
      <p:pic>
        <p:nvPicPr>
          <p:cNvPr id="4" name="Picture 3" descr="1202495790761003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4114800" cy="411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120640" y="182880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20640" y="192024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219456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C8FF00"/>
                </a:solidFill>
                <a:latin typeface="Arial Black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8641080" y="182880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192024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219456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R$ 516,94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306324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315468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342900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4DFF91"/>
                </a:solidFill>
                <a:latin typeface="Arial Black"/>
              </a:rPr>
              <a:t>R$ 57,44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41080" y="306324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1080" y="315468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342900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5DAEFF"/>
                </a:solidFill>
                <a:latin typeface="Arial Black"/>
              </a:rPr>
              <a:t>1.5%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429768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43891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466344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42.389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41080" y="429768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41080" y="43891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466344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637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6080760"/>
            <a:ext cx="6583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Adset: [LM] [STREETPASS 108] INTERESSES + EXCLU v2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6309360"/>
            <a:ext cx="6583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🎯 Campanha: [LM] [RMKT] [FESTIVAL INTERLAGOS] [17.04.2026]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6583680"/>
            <a:ext cx="6583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FF00"/>
                </a:solidFill>
                <a:latin typeface="Arial"/>
                <a:hlinkClick r:id="rId3"/>
              </a:rPr>
              <a:t>🔗 Abrir no Meta Ads Manager →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#7 de 10 · TOP RMKT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 Black"/>
              </a:rPr>
              <a:t>[AD2] segundo lote</a:t>
            </a:r>
          </a:p>
        </p:txBody>
      </p:sp>
      <p:pic>
        <p:nvPicPr>
          <p:cNvPr id="4" name="Picture 3" descr="1202498399489103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4114800" cy="411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120640" y="182880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20640" y="192024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219456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C8FF00"/>
                </a:solidFill>
                <a:latin typeface="Arial Black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8641080" y="182880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192024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219456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R$ 810,53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306324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315468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342900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4DFF91"/>
                </a:solidFill>
                <a:latin typeface="Arial Black"/>
              </a:rPr>
              <a:t>R$ 90,06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41080" y="306324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1080" y="315468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342900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5DAEFF"/>
                </a:solidFill>
                <a:latin typeface="Arial Black"/>
              </a:rPr>
              <a:t>1.5%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429768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43891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466344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78.195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41080" y="429768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41080" y="43891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466344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1.172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6080760"/>
            <a:ext cx="6583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Adset: [LM] [2 LOTE] [09.05]ABERTO + EXCLU v3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6309360"/>
            <a:ext cx="6583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🎯 Campanha: [LM] [RMKT] [FESTIVAL INTERLAGOS] [17.04.2026]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6583680"/>
            <a:ext cx="6583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FF00"/>
                </a:solidFill>
                <a:latin typeface="Arial"/>
                <a:hlinkClick r:id="rId3"/>
              </a:rPr>
              <a:t>🔗 Abrir no Meta Ads Manager →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#8 de 10 · TOP RMKT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 Black"/>
              </a:rPr>
              <a:t>[AD2] VIRADA DE LOTE JARULE</a:t>
            </a:r>
          </a:p>
        </p:txBody>
      </p:sp>
      <p:pic>
        <p:nvPicPr>
          <p:cNvPr id="4" name="Picture 3" descr="1202501246501903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4114800" cy="411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120640" y="182880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20640" y="192024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219456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C8FF00"/>
                </a:solidFill>
                <a:latin typeface="Arial Black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8641080" y="182880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192024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219456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R$ 399,10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306324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315468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342900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4DFF91"/>
                </a:solidFill>
                <a:latin typeface="Arial Black"/>
              </a:rPr>
              <a:t>R$ 49,89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41080" y="306324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1080" y="315468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342900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5DAEFF"/>
                </a:solidFill>
                <a:latin typeface="Arial Black"/>
              </a:rPr>
              <a:t>2.93%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429768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43891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466344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37.377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41080" y="429768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41080" y="43891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466344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1.095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6080760"/>
            <a:ext cx="6583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Adset: [LM] [13.05.26] [SEGUNDO LOTE JARULE] INTERESSES + EXCLU v2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6309360"/>
            <a:ext cx="6583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🎯 Campanha: [LM] [RMKT] [FESTIVAL INTERLAGOS] [17.04.2026]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6583680"/>
            <a:ext cx="6583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FF00"/>
                </a:solidFill>
                <a:latin typeface="Arial"/>
                <a:hlinkClick r:id="rId3"/>
              </a:rPr>
              <a:t>🔗 Abrir no Meta Ads Manager →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#9 de 10 · TOP RMKT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 Black"/>
              </a:rPr>
              <a:t>[AD2] pista premium</a:t>
            </a:r>
          </a:p>
        </p:txBody>
      </p:sp>
      <p:pic>
        <p:nvPicPr>
          <p:cNvPr id="4" name="Picture 3" descr="1202495788352503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4114800" cy="411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120640" y="182880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20640" y="192024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219456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C8FF00"/>
                </a:solidFill>
                <a:latin typeface="Arial Black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8641080" y="182880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192024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219456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R$ 325,50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306324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315468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342900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4DFF91"/>
                </a:solidFill>
                <a:latin typeface="Arial Black"/>
              </a:rPr>
              <a:t>R$ 54,25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41080" y="306324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1080" y="315468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342900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5DAEFF"/>
                </a:solidFill>
                <a:latin typeface="Arial Black"/>
              </a:rPr>
              <a:t>1.81%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429768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43891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466344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25.684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41080" y="429768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41080" y="43891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466344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465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6080760"/>
            <a:ext cx="6583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Adset: [LM] [STREETPASS 108] INTERESSES + EXCLU v2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6309360"/>
            <a:ext cx="6583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🎯 Campanha: [LM] [RMKT] [FESTIVAL INTERLAGOS] [17.04.2026]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6583680"/>
            <a:ext cx="6583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FF00"/>
                </a:solidFill>
                <a:latin typeface="Arial"/>
                <a:hlinkClick r:id="rId3"/>
              </a:rPr>
              <a:t>🔗 Abrir no Meta Ads Manager →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#10 de 10 · TOP RMKT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 Black"/>
              </a:rPr>
              <a:t>[AD2] D2</a:t>
            </a:r>
          </a:p>
        </p:txBody>
      </p:sp>
      <p:pic>
        <p:nvPicPr>
          <p:cNvPr id="4" name="Picture 3" descr="1202495733860503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4114800" cy="411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120640" y="182880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20640" y="192024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219456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C8FF00"/>
                </a:solidFill>
                <a:latin typeface="Arial Black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8641080" y="182880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192024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219456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R$ 448,10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306324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315468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342900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4DFF91"/>
                </a:solidFill>
                <a:latin typeface="Arial Black"/>
              </a:rPr>
              <a:t>R$ 74,68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41080" y="306324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1080" y="315468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342900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5DAEFF"/>
                </a:solidFill>
                <a:latin typeface="Arial Black"/>
              </a:rPr>
              <a:t>1.04%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429768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43891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466344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44.709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41080" y="4297680"/>
            <a:ext cx="3383280" cy="109728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41080" y="43891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4663440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466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6080760"/>
            <a:ext cx="6583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Adset: [LM] [NOVOS POSTS D2] [ROAS]ABERTO AUTO + EXCLU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6309360"/>
            <a:ext cx="6583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🎯 Campanha: [LM] [RMKT] [FESTIVAL INTERLAGOS] [17.04.2026]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6583680"/>
            <a:ext cx="6583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FF00"/>
                </a:solidFill>
                <a:latin typeface="Arial"/>
                <a:hlinkClick r:id="rId3"/>
              </a:rPr>
              <a:t>🔗 Abrir no Meta Ads Manager →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C8FF00"/>
                </a:solidFill>
                <a:latin typeface="Arial Black"/>
              </a:rPr>
              <a:t>INSIGHTS &amp; RECOMENDAÇÕES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6400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400" b="0">
                <a:solidFill>
                  <a:srgbClr val="C8FF00"/>
                </a:solidFill>
                <a:latin typeface="Calibri"/>
              </a:rPr>
              <a:t>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80160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 Black"/>
              </a:rPr>
              <a:t>#1 GERAL é "VENDAS ABERTAS"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00200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Calibri"/>
              </a:rPr>
              <a:t>40 compras (2× mais que o segundo). Mantenha rodando — criativo evergreen.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21408"/>
            <a:ext cx="6400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400" b="0">
                <a:solidFill>
                  <a:srgbClr val="C8FF00"/>
                </a:solidFill>
                <a:latin typeface="Calibri"/>
              </a:rPr>
              <a:t>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121408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 Black"/>
              </a:rPr>
              <a:t>Melhor CPP da janela: GUIA EDIÇÃO MOTO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441448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Calibri"/>
              </a:rPr>
              <a:t>R$ 22,61 por compra (Conta Nova Motos). 3× mais barato que a média. Vale escalar.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62656"/>
            <a:ext cx="6400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400" b="0">
                <a:solidFill>
                  <a:srgbClr val="C8FF00"/>
                </a:solidFill>
                <a:latin typeface="Calibri"/>
              </a:rPr>
              <a:t>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962656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 Black"/>
              </a:rPr>
              <a:t>Conta Nova Motos é 2,9× mais eficiente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282696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Calibri"/>
              </a:rPr>
              <a:t>CPP médio R$ 31 vs R$ 65 da Principal. Avaliar migrar mais budget.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03904"/>
            <a:ext cx="6400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400" b="0">
                <a:solidFill>
                  <a:srgbClr val="C8FF00"/>
                </a:solidFill>
                <a:latin typeface="Calibri"/>
              </a:rPr>
              <a:t>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803904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 Black"/>
              </a:rPr>
              <a:t>4 dos 10 melhores são REMARKETING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123944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Calibri"/>
              </a:rPr>
              <a:t>A campanha [RMKT] domina pos #4, #6, #9, #10. Quem visita o site engaja.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45152"/>
            <a:ext cx="6400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400" b="0">
                <a:solidFill>
                  <a:srgbClr val="C8FF00"/>
                </a:solidFill>
                <a:latin typeface="Calibri"/>
              </a:rPr>
              <a:t>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645152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 Black"/>
              </a:rPr>
              <a:t>Maior CTR (2,93%): "VIRADA DE LOTE JARULE"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965192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Calibri"/>
              </a:rPr>
              <a:t>Combinar headliner + urgência de virada de lote é a fórmula campeã.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486400"/>
            <a:ext cx="6400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400" b="0">
                <a:solidFill>
                  <a:srgbClr val="C8FF00"/>
                </a:solidFill>
                <a:latin typeface="Calibri"/>
              </a:rPr>
              <a:t>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5486400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 Black"/>
              </a:rPr>
              <a:t>STREET 108 e D2 aparecem 2× cada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806440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Calibri"/>
              </a:rPr>
              <a:t>Criativos robustos em múltiplos adsets — replicar pattern em outros temas.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